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903512-DDF5-4507-A745-6C5271299A2F}" v="56" dt="2025-11-18T07:10:15.8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189" autoAdjust="0"/>
  </p:normalViewPr>
  <p:slideViewPr>
    <p:cSldViewPr snapToGrid="0">
      <p:cViewPr varScale="1">
        <p:scale>
          <a:sx n="92" d="100"/>
          <a:sy n="92" d="100"/>
        </p:scale>
        <p:origin x="1230"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i Jackson" userId="c48f07d815f89fe7" providerId="LiveId" clId="{6D6B6960-7D79-4D09-98E3-B7C750440008}"/>
    <pc:docChg chg="undo custSel modSld">
      <pc:chgData name="Kai Jackson" userId="c48f07d815f89fe7" providerId="LiveId" clId="{6D6B6960-7D79-4D09-98E3-B7C750440008}" dt="2025-11-18T07:10:15.843" v="167"/>
      <pc:docMkLst>
        <pc:docMk/>
      </pc:docMkLst>
      <pc:sldChg chg="addSp delSp modSp mod">
        <pc:chgData name="Kai Jackson" userId="c48f07d815f89fe7" providerId="LiveId" clId="{6D6B6960-7D79-4D09-98E3-B7C750440008}" dt="2025-11-18T06:42:02.510" v="77" actId="113"/>
        <pc:sldMkLst>
          <pc:docMk/>
          <pc:sldMk cId="4216963038" sldId="257"/>
        </pc:sldMkLst>
        <pc:spChg chg="add">
          <ac:chgData name="Kai Jackson" userId="c48f07d815f89fe7" providerId="LiveId" clId="{6D6B6960-7D79-4D09-98E3-B7C750440008}" dt="2025-11-18T06:38:16.046" v="15"/>
          <ac:spMkLst>
            <pc:docMk/>
            <pc:sldMk cId="4216963038" sldId="257"/>
            <ac:spMk id="2" creationId="{149EE42B-2C55-29D7-655D-8D0AE33F048C}"/>
          </ac:spMkLst>
        </pc:spChg>
        <pc:spChg chg="add del mod">
          <ac:chgData name="Kai Jackson" userId="c48f07d815f89fe7" providerId="LiveId" clId="{6D6B6960-7D79-4D09-98E3-B7C750440008}" dt="2025-11-18T06:38:49.726" v="25" actId="478"/>
          <ac:spMkLst>
            <pc:docMk/>
            <pc:sldMk cId="4216963038" sldId="257"/>
            <ac:spMk id="3" creationId="{AB0FDE25-4193-88F7-2709-D979DABDB1E9}"/>
          </ac:spMkLst>
        </pc:spChg>
        <pc:spChg chg="mod">
          <ac:chgData name="Kai Jackson" userId="c48f07d815f89fe7" providerId="LiveId" clId="{6D6B6960-7D79-4D09-98E3-B7C750440008}" dt="2025-11-18T06:42:02.510" v="77" actId="113"/>
          <ac:spMkLst>
            <pc:docMk/>
            <pc:sldMk cId="4216963038" sldId="257"/>
            <ac:spMk id="14" creationId="{FCCFEF1C-A734-B06F-D65B-533895063CDB}"/>
          </ac:spMkLst>
        </pc:spChg>
      </pc:sldChg>
      <pc:sldChg chg="addSp modSp mod">
        <pc:chgData name="Kai Jackson" userId="c48f07d815f89fe7" providerId="LiveId" clId="{6D6B6960-7D79-4D09-98E3-B7C750440008}" dt="2025-11-18T06:51:26.095" v="122" actId="255"/>
        <pc:sldMkLst>
          <pc:docMk/>
          <pc:sldMk cId="190300005" sldId="258"/>
        </pc:sldMkLst>
        <pc:spChg chg="mod">
          <ac:chgData name="Kai Jackson" userId="c48f07d815f89fe7" providerId="LiveId" clId="{6D6B6960-7D79-4D09-98E3-B7C750440008}" dt="2025-11-18T06:49:04.352" v="98" actId="403"/>
          <ac:spMkLst>
            <pc:docMk/>
            <pc:sldMk cId="190300005" sldId="258"/>
            <ac:spMk id="14" creationId="{F03EA59B-F30F-3AF8-A870-6C1509734B52}"/>
          </ac:spMkLst>
        </pc:spChg>
        <pc:spChg chg="mod">
          <ac:chgData name="Kai Jackson" userId="c48f07d815f89fe7" providerId="LiveId" clId="{6D6B6960-7D79-4D09-98E3-B7C750440008}" dt="2025-11-18T06:49:40.850" v="110" actId="2711"/>
          <ac:spMkLst>
            <pc:docMk/>
            <pc:sldMk cId="190300005" sldId="258"/>
            <ac:spMk id="17" creationId="{93C3ED10-CA61-4895-DC0C-76D2A92686C2}"/>
          </ac:spMkLst>
        </pc:spChg>
        <pc:spChg chg="mod">
          <ac:chgData name="Kai Jackson" userId="c48f07d815f89fe7" providerId="LiveId" clId="{6D6B6960-7D79-4D09-98E3-B7C750440008}" dt="2025-11-18T06:51:26.095" v="122" actId="255"/>
          <ac:spMkLst>
            <pc:docMk/>
            <pc:sldMk cId="190300005" sldId="258"/>
            <ac:spMk id="18" creationId="{A69C5932-7C46-7602-8BC8-3F2A08B32C6E}"/>
          </ac:spMkLst>
        </pc:spChg>
        <pc:picChg chg="add mod">
          <ac:chgData name="Kai Jackson" userId="c48f07d815f89fe7" providerId="LiveId" clId="{6D6B6960-7D79-4D09-98E3-B7C750440008}" dt="2025-11-18T06:50:55.137" v="116" actId="207"/>
          <ac:picMkLst>
            <pc:docMk/>
            <pc:sldMk cId="190300005" sldId="258"/>
            <ac:picMk id="3" creationId="{C7ADE5FF-45D6-1CB8-739A-C408459FA7AB}"/>
          </ac:picMkLst>
        </pc:picChg>
      </pc:sldChg>
      <pc:sldChg chg="modSp mod">
        <pc:chgData name="Kai Jackson" userId="c48f07d815f89fe7" providerId="LiveId" clId="{6D6B6960-7D79-4D09-98E3-B7C750440008}" dt="2025-11-18T07:03:49.951" v="136" actId="1076"/>
        <pc:sldMkLst>
          <pc:docMk/>
          <pc:sldMk cId="637876094" sldId="259"/>
        </pc:sldMkLst>
        <pc:spChg chg="mod">
          <ac:chgData name="Kai Jackson" userId="c48f07d815f89fe7" providerId="LiveId" clId="{6D6B6960-7D79-4D09-98E3-B7C750440008}" dt="2025-11-18T07:01:18.315" v="124"/>
          <ac:spMkLst>
            <pc:docMk/>
            <pc:sldMk cId="637876094" sldId="259"/>
            <ac:spMk id="4" creationId="{82BEDE2F-A42A-92F3-A716-A1BE0224473A}"/>
          </ac:spMkLst>
        </pc:spChg>
        <pc:spChg chg="mod">
          <ac:chgData name="Kai Jackson" userId="c48f07d815f89fe7" providerId="LiveId" clId="{6D6B6960-7D79-4D09-98E3-B7C750440008}" dt="2025-11-18T07:03:49.951" v="136" actId="1076"/>
          <ac:spMkLst>
            <pc:docMk/>
            <pc:sldMk cId="637876094" sldId="259"/>
            <ac:spMk id="8" creationId="{9EDFC6F0-2838-7888-943D-C026426AB8E3}"/>
          </ac:spMkLst>
        </pc:spChg>
      </pc:sldChg>
      <pc:sldChg chg="modSp mod">
        <pc:chgData name="Kai Jackson" userId="c48f07d815f89fe7" providerId="LiveId" clId="{6D6B6960-7D79-4D09-98E3-B7C750440008}" dt="2025-11-18T07:04:15.828" v="140"/>
        <pc:sldMkLst>
          <pc:docMk/>
          <pc:sldMk cId="3619579067" sldId="260"/>
        </pc:sldMkLst>
        <pc:spChg chg="mod">
          <ac:chgData name="Kai Jackson" userId="c48f07d815f89fe7" providerId="LiveId" clId="{6D6B6960-7D79-4D09-98E3-B7C750440008}" dt="2025-11-18T07:04:01.141" v="138"/>
          <ac:spMkLst>
            <pc:docMk/>
            <pc:sldMk cId="3619579067" sldId="260"/>
            <ac:spMk id="4" creationId="{A214AA1D-91F4-44CE-251A-65C6E6B2818F}"/>
          </ac:spMkLst>
        </pc:spChg>
        <pc:spChg chg="mod">
          <ac:chgData name="Kai Jackson" userId="c48f07d815f89fe7" providerId="LiveId" clId="{6D6B6960-7D79-4D09-98E3-B7C750440008}" dt="2025-11-18T07:04:15.828" v="140"/>
          <ac:spMkLst>
            <pc:docMk/>
            <pc:sldMk cId="3619579067" sldId="260"/>
            <ac:spMk id="8" creationId="{136F16D4-E3F1-2969-EB9C-5D3307B303A2}"/>
          </ac:spMkLst>
        </pc:spChg>
      </pc:sldChg>
      <pc:sldChg chg="modSp mod">
        <pc:chgData name="Kai Jackson" userId="c48f07d815f89fe7" providerId="LiveId" clId="{6D6B6960-7D79-4D09-98E3-B7C750440008}" dt="2025-11-18T07:04:33.479" v="144"/>
        <pc:sldMkLst>
          <pc:docMk/>
          <pc:sldMk cId="1971134552" sldId="261"/>
        </pc:sldMkLst>
        <pc:spChg chg="mod">
          <ac:chgData name="Kai Jackson" userId="c48f07d815f89fe7" providerId="LiveId" clId="{6D6B6960-7D79-4D09-98E3-B7C750440008}" dt="2025-11-18T07:04:24.546" v="142"/>
          <ac:spMkLst>
            <pc:docMk/>
            <pc:sldMk cId="1971134552" sldId="261"/>
            <ac:spMk id="4" creationId="{CAEDA5FE-3C69-6ED2-4426-FF4B4C1D5938}"/>
          </ac:spMkLst>
        </pc:spChg>
        <pc:spChg chg="mod">
          <ac:chgData name="Kai Jackson" userId="c48f07d815f89fe7" providerId="LiveId" clId="{6D6B6960-7D79-4D09-98E3-B7C750440008}" dt="2025-11-18T07:04:33.479" v="144"/>
          <ac:spMkLst>
            <pc:docMk/>
            <pc:sldMk cId="1971134552" sldId="261"/>
            <ac:spMk id="8" creationId="{9E160AE1-6AEE-64C0-E8AD-BC7A80726F25}"/>
          </ac:spMkLst>
        </pc:spChg>
      </pc:sldChg>
      <pc:sldChg chg="modSp mod">
        <pc:chgData name="Kai Jackson" userId="c48f07d815f89fe7" providerId="LiveId" clId="{6D6B6960-7D79-4D09-98E3-B7C750440008}" dt="2025-11-18T07:04:48.972" v="149"/>
        <pc:sldMkLst>
          <pc:docMk/>
          <pc:sldMk cId="1803916612" sldId="262"/>
        </pc:sldMkLst>
        <pc:spChg chg="mod">
          <ac:chgData name="Kai Jackson" userId="c48f07d815f89fe7" providerId="LiveId" clId="{6D6B6960-7D79-4D09-98E3-B7C750440008}" dt="2025-11-18T07:04:40.782" v="146"/>
          <ac:spMkLst>
            <pc:docMk/>
            <pc:sldMk cId="1803916612" sldId="262"/>
            <ac:spMk id="4" creationId="{FB6EC419-E0AF-837C-ACD1-9B08E4EC5551}"/>
          </ac:spMkLst>
        </pc:spChg>
        <pc:spChg chg="mod">
          <ac:chgData name="Kai Jackson" userId="c48f07d815f89fe7" providerId="LiveId" clId="{6D6B6960-7D79-4D09-98E3-B7C750440008}" dt="2025-11-18T07:04:48.972" v="149"/>
          <ac:spMkLst>
            <pc:docMk/>
            <pc:sldMk cId="1803916612" sldId="262"/>
            <ac:spMk id="8" creationId="{AF29ED89-2FA7-17BB-6513-89ED32AAAB3B}"/>
          </ac:spMkLst>
        </pc:spChg>
      </pc:sldChg>
      <pc:sldChg chg="modSp mod">
        <pc:chgData name="Kai Jackson" userId="c48f07d815f89fe7" providerId="LiveId" clId="{6D6B6960-7D79-4D09-98E3-B7C750440008}" dt="2025-11-18T07:09:05.465" v="153"/>
        <pc:sldMkLst>
          <pc:docMk/>
          <pc:sldMk cId="1600612967" sldId="263"/>
        </pc:sldMkLst>
        <pc:spChg chg="mod">
          <ac:chgData name="Kai Jackson" userId="c48f07d815f89fe7" providerId="LiveId" clId="{6D6B6960-7D79-4D09-98E3-B7C750440008}" dt="2025-11-18T07:08:53.013" v="151"/>
          <ac:spMkLst>
            <pc:docMk/>
            <pc:sldMk cId="1600612967" sldId="263"/>
            <ac:spMk id="4" creationId="{BB3FD7D6-6652-7C55-1DB2-C08025CFEAFC}"/>
          </ac:spMkLst>
        </pc:spChg>
        <pc:spChg chg="mod">
          <ac:chgData name="Kai Jackson" userId="c48f07d815f89fe7" providerId="LiveId" clId="{6D6B6960-7D79-4D09-98E3-B7C750440008}" dt="2025-11-18T07:09:05.465" v="153"/>
          <ac:spMkLst>
            <pc:docMk/>
            <pc:sldMk cId="1600612967" sldId="263"/>
            <ac:spMk id="8" creationId="{E3BBDB12-FF67-F32C-BB42-F2B87DA99885}"/>
          </ac:spMkLst>
        </pc:spChg>
      </pc:sldChg>
      <pc:sldChg chg="modSp mod">
        <pc:chgData name="Kai Jackson" userId="c48f07d815f89fe7" providerId="LiveId" clId="{6D6B6960-7D79-4D09-98E3-B7C750440008}" dt="2025-11-18T07:09:22.559" v="158"/>
        <pc:sldMkLst>
          <pc:docMk/>
          <pc:sldMk cId="167554845" sldId="264"/>
        </pc:sldMkLst>
        <pc:spChg chg="mod">
          <ac:chgData name="Kai Jackson" userId="c48f07d815f89fe7" providerId="LiveId" clId="{6D6B6960-7D79-4D09-98E3-B7C750440008}" dt="2025-11-18T07:09:14.790" v="155"/>
          <ac:spMkLst>
            <pc:docMk/>
            <pc:sldMk cId="167554845" sldId="264"/>
            <ac:spMk id="4" creationId="{69C04C3F-DFF4-D981-7FB5-D934C59D328F}"/>
          </ac:spMkLst>
        </pc:spChg>
        <pc:spChg chg="mod">
          <ac:chgData name="Kai Jackson" userId="c48f07d815f89fe7" providerId="LiveId" clId="{6D6B6960-7D79-4D09-98E3-B7C750440008}" dt="2025-11-18T07:09:22.559" v="158"/>
          <ac:spMkLst>
            <pc:docMk/>
            <pc:sldMk cId="167554845" sldId="264"/>
            <ac:spMk id="8" creationId="{A2483373-4C4A-7E4C-088F-1E2B5017F797}"/>
          </ac:spMkLst>
        </pc:spChg>
      </pc:sldChg>
      <pc:sldChg chg="modSp mod">
        <pc:chgData name="Kai Jackson" userId="c48f07d815f89fe7" providerId="LiveId" clId="{6D6B6960-7D79-4D09-98E3-B7C750440008}" dt="2025-11-18T07:09:53.078" v="163"/>
        <pc:sldMkLst>
          <pc:docMk/>
          <pc:sldMk cId="1802455774" sldId="265"/>
        </pc:sldMkLst>
        <pc:spChg chg="mod">
          <ac:chgData name="Kai Jackson" userId="c48f07d815f89fe7" providerId="LiveId" clId="{6D6B6960-7D79-4D09-98E3-B7C750440008}" dt="2025-11-18T07:09:43.335" v="160"/>
          <ac:spMkLst>
            <pc:docMk/>
            <pc:sldMk cId="1802455774" sldId="265"/>
            <ac:spMk id="4" creationId="{6DEBC6D8-D844-EE16-F55C-D18F28297EB1}"/>
          </ac:spMkLst>
        </pc:spChg>
        <pc:spChg chg="mod">
          <ac:chgData name="Kai Jackson" userId="c48f07d815f89fe7" providerId="LiveId" clId="{6D6B6960-7D79-4D09-98E3-B7C750440008}" dt="2025-11-18T07:09:53.078" v="163"/>
          <ac:spMkLst>
            <pc:docMk/>
            <pc:sldMk cId="1802455774" sldId="265"/>
            <ac:spMk id="8" creationId="{A431CC94-0F4D-8D27-2851-3F0DFC4EC5FC}"/>
          </ac:spMkLst>
        </pc:spChg>
      </pc:sldChg>
      <pc:sldChg chg="modSp mod">
        <pc:chgData name="Kai Jackson" userId="c48f07d815f89fe7" providerId="LiveId" clId="{6D6B6960-7D79-4D09-98E3-B7C750440008}" dt="2025-11-18T07:10:07.569" v="165"/>
        <pc:sldMkLst>
          <pc:docMk/>
          <pc:sldMk cId="3210937979" sldId="266"/>
        </pc:sldMkLst>
        <pc:spChg chg="mod">
          <ac:chgData name="Kai Jackson" userId="c48f07d815f89fe7" providerId="LiveId" clId="{6D6B6960-7D79-4D09-98E3-B7C750440008}" dt="2025-11-18T07:10:07.569" v="165"/>
          <ac:spMkLst>
            <pc:docMk/>
            <pc:sldMk cId="3210937979" sldId="266"/>
            <ac:spMk id="4" creationId="{7A46D70A-4E7F-E0D0-AB93-FD8A1D2E4554}"/>
          </ac:spMkLst>
        </pc:spChg>
      </pc:sldChg>
      <pc:sldChg chg="modSp mod">
        <pc:chgData name="Kai Jackson" userId="c48f07d815f89fe7" providerId="LiveId" clId="{6D6B6960-7D79-4D09-98E3-B7C750440008}" dt="2025-11-18T07:10:15.843" v="167"/>
        <pc:sldMkLst>
          <pc:docMk/>
          <pc:sldMk cId="3504231687" sldId="267"/>
        </pc:sldMkLst>
        <pc:spChg chg="mod">
          <ac:chgData name="Kai Jackson" userId="c48f07d815f89fe7" providerId="LiveId" clId="{6D6B6960-7D79-4D09-98E3-B7C750440008}" dt="2025-11-18T07:10:15.843" v="167"/>
          <ac:spMkLst>
            <pc:docMk/>
            <pc:sldMk cId="3504231687" sldId="267"/>
            <ac:spMk id="4" creationId="{40F1CBAF-4CD3-0DBE-7C03-DE73896D03B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F33653-A6D1-42F7-8752-50AED6119BA5}" type="datetimeFigureOut">
              <a:rPr lang="vi-VN" smtClean="0"/>
              <a:t>18/11/2025</a:t>
            </a:fld>
            <a:endParaRPr lang="vi-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3EC8C8-905F-4709-9903-257B6E54A1D4}" type="slidenum">
              <a:rPr lang="vi-VN" smtClean="0"/>
              <a:t>‹#›</a:t>
            </a:fld>
            <a:endParaRPr lang="vi-VN"/>
          </a:p>
        </p:txBody>
      </p:sp>
    </p:spTree>
    <p:extLst>
      <p:ext uri="{BB962C8B-B14F-4D97-AF65-F5344CB8AC3E}">
        <p14:creationId xmlns:p14="http://schemas.microsoft.com/office/powerpoint/2010/main" val="8509089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5"/>
          </p:nvPr>
        </p:nvSpPr>
        <p:spPr/>
        <p:txBody>
          <a:bodyPr/>
          <a:lstStyle/>
          <a:p>
            <a:fld id="{E73EC8C8-905F-4709-9903-257B6E54A1D4}" type="slidenum">
              <a:rPr lang="vi-VN" smtClean="0"/>
              <a:t>3</a:t>
            </a:fld>
            <a:endParaRPr lang="vi-VN"/>
          </a:p>
        </p:txBody>
      </p:sp>
    </p:spTree>
    <p:extLst>
      <p:ext uri="{BB962C8B-B14F-4D97-AF65-F5344CB8AC3E}">
        <p14:creationId xmlns:p14="http://schemas.microsoft.com/office/powerpoint/2010/main" val="18845546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5"/>
          </p:nvPr>
        </p:nvSpPr>
        <p:spPr/>
        <p:txBody>
          <a:bodyPr/>
          <a:lstStyle/>
          <a:p>
            <a:fld id="{E73EC8C8-905F-4709-9903-257B6E54A1D4}" type="slidenum">
              <a:rPr lang="vi-VN" smtClean="0"/>
              <a:t>4</a:t>
            </a:fld>
            <a:endParaRPr lang="vi-VN"/>
          </a:p>
        </p:txBody>
      </p:sp>
    </p:spTree>
    <p:extLst>
      <p:ext uri="{BB962C8B-B14F-4D97-AF65-F5344CB8AC3E}">
        <p14:creationId xmlns:p14="http://schemas.microsoft.com/office/powerpoint/2010/main" val="243050106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5218032"/>
            <a:ext cx="11460480" cy="786384"/>
          </a:xfrm>
        </p:spPr>
        <p:txBody>
          <a:bodyPr vert="horz" lIns="91440" tIns="45720" rIns="91440" bIns="45720" rtlCol="0" anchor="b">
            <a:normAutofit/>
          </a:bodyPr>
          <a:lstStyle>
            <a:lvl1pPr>
              <a:defRPr lang="en-US" sz="4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972633"/>
            <a:ext cx="11460480" cy="480373"/>
          </a:xfrm>
        </p:spPr>
        <p:txBody>
          <a:bodyPr vert="horz" lIns="91440" tIns="45720" rIns="91440" bIns="45720" rtlCol="0">
            <a:normAutofit/>
          </a:bodyPr>
          <a:lstStyle>
            <a:lvl1pPr marL="0" indent="0">
              <a:buNone/>
              <a:defRPr lang="en-US"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3" y="4"/>
            <a:ext cx="12191999" cy="4986425"/>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567B50E4-2343-4B20-80BE-1605C97DFB16}" type="datetime1">
              <a:rPr lang="en-US" smtClean="0"/>
              <a:t>11/18/2025</a:t>
            </a:fld>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560085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02DE44A-7CD8-4860-9BDC-2BE4C911F6D0}" type="datetime1">
              <a:rPr lang="en-US" smtClean="0"/>
              <a:t>11/18/2025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7217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1129554"/>
            <a:ext cx="4361688" cy="3475236"/>
          </a:xfrm>
        </p:spPr>
        <p:txBody>
          <a:bodyPr vert="horz" lIns="91440" tIns="45720" rIns="91440" bIns="45720" rtlCol="0" anchor="b">
            <a:normAutofit/>
          </a:bodyPr>
          <a:lstStyle>
            <a:lvl1pPr>
              <a:defRPr lang="en-US" sz="54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7" y="4731339"/>
            <a:ext cx="4206240" cy="1184585"/>
          </a:xfrm>
        </p:spPr>
        <p:txBody>
          <a:bodyPr vert="horz" lIns="91440" tIns="45720" rIns="91440" bIns="45720" rtlCol="0">
            <a:normAutofit/>
          </a:bodyPr>
          <a:lstStyle>
            <a:lvl1pPr marL="0" indent="0">
              <a:buNone/>
              <a:defRPr lang="en-US" sz="2000"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2" y="0"/>
            <a:ext cx="6584951"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8" y="6453006"/>
            <a:ext cx="1707625" cy="365125"/>
          </a:xfrm>
        </p:spPr>
        <p:txBody>
          <a:bodyPr/>
          <a:lstStyle>
            <a:lvl1pPr>
              <a:defRPr>
                <a:solidFill>
                  <a:schemeClr val="tx1"/>
                </a:solidFill>
                <a:effectLst/>
              </a:defRPr>
            </a:lvl1pPr>
          </a:lstStyle>
          <a:p>
            <a:fld id="{E38EAEAF-D16E-446F-97F9-D23FB245CB45}" type="datetime1">
              <a:rPr lang="en-US" smtClean="0"/>
              <a:t>11/18/2025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34385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411480"/>
            <a:ext cx="4654296" cy="3739896"/>
          </a:xfrm>
        </p:spPr>
        <p:txBody>
          <a:bodyPr vert="horz" lIns="91440" tIns="45720" rIns="91440" bIns="45720" rtlCol="0" anchor="t">
            <a:normAutofit/>
          </a:bodyPr>
          <a:lstStyle>
            <a:lvl1pPr>
              <a:defRPr lang="en-US" sz="52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4873752"/>
            <a:ext cx="4206240" cy="1380744"/>
          </a:xfrm>
        </p:spPr>
        <p:txBody>
          <a:bodyPr vert="horz" lIns="91440" tIns="45720" rIns="91440" bIns="45720" rtlCol="0" anchor="b">
            <a:normAutofit/>
          </a:bodyPr>
          <a:lstStyle>
            <a:lvl1pPr marL="0" indent="0">
              <a:buNone/>
              <a:defRPr lang="en-US"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596128" y="0"/>
            <a:ext cx="6595872"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137162" y="6453006"/>
            <a:ext cx="1951777" cy="365125"/>
          </a:xfrm>
        </p:spPr>
        <p:txBody>
          <a:bodyPr/>
          <a:lstStyle/>
          <a:p>
            <a:fld id="{782E7A21-5BA8-4C4C-9705-3A1EA342AD8A}" type="datetime1">
              <a:rPr lang="en-US" smtClean="0"/>
              <a:t>11/18/2025</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2088939" y="6453006"/>
            <a:ext cx="2805405"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844581" y="6453006"/>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632483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1211" y="548646"/>
            <a:ext cx="7478991" cy="3635797"/>
          </a:xfrm>
        </p:spPr>
        <p:txBody>
          <a:bodyPr vert="horz" lIns="91440" tIns="45720" rIns="91440" bIns="45720" rtlCol="0" anchor="t">
            <a:normAutofit/>
          </a:bodyPr>
          <a:lstStyle>
            <a:lvl1pPr>
              <a:defRPr lang="en-US" sz="7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21209" y="4473553"/>
            <a:ext cx="6655523" cy="1545336"/>
          </a:xfrm>
        </p:spPr>
        <p:txBody>
          <a:bodyPr vert="horz" lIns="91440" tIns="45720" rIns="91440" bIns="45720" rtlCol="0" anchor="b">
            <a:normAutofit/>
          </a:bodyPr>
          <a:lstStyle>
            <a:lvl1pPr marL="0" indent="0">
              <a:buNone/>
              <a:defRPr lang="en-US" sz="2200" dirty="0"/>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CBE73BE-5F1F-40EF-8F67-E3F24D65884D}" type="datetime1">
              <a:rPr lang="en-US" smtClean="0"/>
              <a:t>11/18/2025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253033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8011" y="854243"/>
            <a:ext cx="7876287" cy="3592629"/>
          </a:xfrm>
        </p:spPr>
        <p:txBody>
          <a:bodyPr vert="horz" lIns="91440" tIns="45720" rIns="91440" bIns="45720" rtlCol="0" anchor="b">
            <a:normAutofit/>
          </a:bodyPr>
          <a:lstStyle>
            <a:lvl1pPr>
              <a:defRPr lang="en-US" sz="72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58369" y="4617138"/>
            <a:ext cx="7375467" cy="1014984"/>
          </a:xfrm>
        </p:spPr>
        <p:txBody>
          <a:bodyPr vert="horz" lIns="91440" tIns="45720" rIns="91440" bIns="45720" rtlCol="0">
            <a:normAutofit/>
          </a:bodyPr>
          <a:lstStyle>
            <a:lvl1pPr marL="0" indent="0">
              <a:buNone/>
              <a:defRPr lang="en-US" dirty="0"/>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3C868EF1-668D-4AD0-8652-1F3B3622EDC2}" type="datetime1">
              <a:rPr lang="en-US" smtClean="0"/>
              <a:t>11/18/2025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98190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rmAutofit/>
          </a:bodyPr>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5" y="4039651"/>
            <a:ext cx="7588155" cy="1414091"/>
          </a:xfrm>
        </p:spPr>
        <p:txBody>
          <a:bodyPr>
            <a:normAutofit/>
          </a:bodyPr>
          <a:lstStyle>
            <a:lvl1pPr marL="0" indent="0" algn="ctr">
              <a:buNone/>
              <a:defRPr sz="22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E95609F-9B5B-4E29-8DB1-457A85E01A27}" type="datetime1">
              <a:rPr lang="en-US" smtClean="0"/>
              <a:t>11/18/2025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524285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74320" y="1801368"/>
            <a:ext cx="7772400" cy="4572000"/>
          </a:xfrm>
        </p:spPr>
        <p:txBody>
          <a:bodyPr vert="horz" lIns="91440" tIns="45720" rIns="91440" bIns="45720" rtlCol="0" anchor="b">
            <a:normAutofit/>
          </a:bodyPr>
          <a:lstStyle>
            <a:lvl1pPr>
              <a:defRPr lang="en-US" sz="7400" dirty="0"/>
            </a:lvl1pPr>
          </a:lstStyle>
          <a:p>
            <a:pPr lvl="0"/>
            <a:r>
              <a:rPr lang="en-US" dirty="0"/>
              <a:t>Click to edit Master 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6A0DE37-B9D6-425C-B79B-6C6DFFBD0DA2}" type="datetime1">
              <a:rPr lang="en-US" smtClean="0"/>
              <a:t>11/18/2025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600268157"/>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2649" y="664108"/>
            <a:ext cx="8467559" cy="1554480"/>
          </a:xfrm>
        </p:spPr>
        <p:txBody>
          <a:bodyPr anchor="b">
            <a:normAutofit/>
          </a:bodyPr>
          <a:lstStyle>
            <a:lvl1pPr>
              <a:defRPr sz="44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9" y="2333862"/>
            <a:ext cx="8467559" cy="3689909"/>
          </a:xfrm>
        </p:spPr>
        <p:txBody>
          <a:bodyPr>
            <a:normAutofit/>
          </a:bodyPr>
          <a:lstStyle>
            <a:lvl1pPr marL="457189" indent="-457189">
              <a:buFont typeface="+mj-lt"/>
              <a:buAutoNum type="arabicPeriod"/>
              <a:defRPr sz="2400"/>
            </a:lvl1pPr>
            <a:lvl2pPr marL="685783" indent="-457189">
              <a:buFont typeface="+mj-lt"/>
              <a:buAutoNum type="arabicPeriod"/>
              <a:defRPr sz="2000"/>
            </a:lvl2pPr>
            <a:lvl3pPr marL="800080" indent="-342891">
              <a:buFont typeface="+mj-lt"/>
              <a:buAutoNum type="arabicPeriod"/>
              <a:defRPr sz="1800"/>
            </a:lvl3pPr>
            <a:lvl4pPr marL="1028674" indent="-342891">
              <a:buFont typeface="+mj-lt"/>
              <a:buAutoNum type="arabicPeriod"/>
              <a:defRPr sz="1600"/>
            </a:lvl4pPr>
            <a:lvl5pPr marL="1257269" indent="-342891">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1045B0EE-4023-4E3C-8875-10AA631453CF}" type="datetime1">
              <a:rPr lang="en-US" smtClean="0"/>
              <a:t>11/18/2025</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645918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58000" y="1161288"/>
            <a:ext cx="4663440" cy="1554480"/>
          </a:xfrm>
        </p:spPr>
        <p:txBody>
          <a:bodyPr anchor="b">
            <a:normAutofit/>
          </a:bodyPr>
          <a:lstStyle>
            <a:lvl1pPr>
              <a:defRPr sz="4000"/>
            </a:lvl1pPr>
          </a:lstStyle>
          <a:p>
            <a:r>
              <a:rPr lang="en-US" dirty="0"/>
              <a:t>Click to edit Master title style</a:t>
            </a:r>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hasCustomPrompt="1"/>
          </p:nvPr>
        </p:nvSpPr>
        <p:spPr>
          <a:xfrm>
            <a:off x="0" y="0"/>
            <a:ext cx="6099048"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58000" y="2825496"/>
            <a:ext cx="4663440" cy="3337560"/>
          </a:xfrm>
        </p:spPr>
        <p:txBody>
          <a:bodyPr>
            <a:normAutofit/>
          </a:bodyPr>
          <a:lstStyle>
            <a:lvl1pPr marL="457189" indent="-457189">
              <a:buFont typeface="+mj-lt"/>
              <a:buAutoNum type="arabicPeriod"/>
              <a:defRPr sz="2000"/>
            </a:lvl1pPr>
            <a:lvl2pPr marL="571486" indent="-342891">
              <a:buFont typeface="+mj-lt"/>
              <a:buAutoNum type="arabicPeriod"/>
              <a:defRPr sz="1800"/>
            </a:lvl2pPr>
            <a:lvl3pPr marL="800080" indent="-342891">
              <a:buFont typeface="+mj-lt"/>
              <a:buAutoNum type="arabicPeriod"/>
              <a:defRPr sz="1600"/>
            </a:lvl3pPr>
            <a:lvl4pPr marL="1028674" indent="-342891">
              <a:buFont typeface="+mj-lt"/>
              <a:buAutoNum type="arabicPeriod"/>
              <a:defRPr sz="1400"/>
            </a:lvl4pPr>
            <a:lvl5pPr>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858002" y="6453006"/>
            <a:ext cx="1996689" cy="365125"/>
          </a:xfrm>
        </p:spPr>
        <p:txBody>
          <a:bodyPr/>
          <a:lstStyle/>
          <a:p>
            <a:fld id="{CE6CA204-B091-40ED-8158-331EE628B522}" type="datetime1">
              <a:rPr lang="en-US" smtClean="0"/>
              <a:t>11/18/2025</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558855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dirty="0"/>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594" indent="0">
              <a:buNone/>
              <a:defRPr/>
            </a:lvl2pPr>
            <a:lvl3pPr marL="457189" indent="0">
              <a:buNone/>
              <a:defRPr/>
            </a:lvl3pPr>
            <a:lvl4pPr marL="685783" indent="0">
              <a:buNone/>
              <a:defRPr/>
            </a:lvl4pPr>
            <a:lvl5pPr marL="914377"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3692F09-9D88-4105-92F6-7298804EAA90}" type="datetime1">
              <a:rPr lang="en-US" smtClean="0"/>
              <a:t>11/18/2025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414224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41" y="2254250"/>
            <a:ext cx="4956175" cy="3556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3744F96-061D-4D71-97A2-2371A43FDE7C}" type="datetime1">
              <a:rPr lang="en-US" smtClean="0"/>
              <a:t>11/18/2025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645435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9" y="1537857"/>
            <a:ext cx="4145583" cy="4638825"/>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9" y="1538288"/>
            <a:ext cx="5681663" cy="48180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C5FE133-02A7-439F-9131-2680F754099D}" type="datetime1">
              <a:rPr lang="en-US" smtClean="0"/>
              <a:t>11/18/2025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100355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877460"/>
            <a:ext cx="4142232" cy="4940661"/>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5" y="877456"/>
            <a:ext cx="6159500" cy="539082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91BF7DD-C7D0-4333-B18D-CCAF5427F9DD}" type="datetime1">
              <a:rPr lang="en-US" smtClean="0"/>
              <a:t>11/18/2025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276030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72533" y="548643"/>
            <a:ext cx="3494315" cy="5719639"/>
          </a:xfrm>
        </p:spPr>
        <p:txBody>
          <a:bodyPr>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0415979-091A-4302-A385-56FC1CE52E32}" type="datetime1">
              <a:rPr lang="en-US" smtClean="0"/>
              <a:t>11/18/2025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694955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38940" y="548640"/>
            <a:ext cx="6093225" cy="1143000"/>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38937" y="1828800"/>
            <a:ext cx="6071616" cy="44897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538937" y="6453006"/>
            <a:ext cx="3337584" cy="365125"/>
          </a:xfrm>
        </p:spPr>
        <p:txBody>
          <a:bodyPr/>
          <a:lstStyle/>
          <a:p>
            <a:fld id="{7836D543-476D-434F-B209-1A114B2E3F04}" type="datetime1">
              <a:rPr lang="en-US" smtClean="0"/>
              <a:t>11/18/2025</a:t>
            </a:fld>
            <a:endParaRPr lang="en-US"/>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445934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6135624" cy="1143000"/>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5" y="1828800"/>
            <a:ext cx="6135624" cy="44897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p:txBody>
          <a:bodyPr/>
          <a:lstStyle/>
          <a:p>
            <a:fld id="{83DD0F20-7689-42E6-8664-6AA00B79F132}" type="datetime1">
              <a:rPr lang="en-US" smtClean="0"/>
              <a:t>11/18/2025</a:t>
            </a:fld>
            <a:endParaRPr lang="en-US"/>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453006"/>
            <a:ext cx="2805405" cy="365125"/>
          </a:xfrm>
        </p:spPr>
        <p:txBody>
          <a:bodyPr/>
          <a:lstStyle/>
          <a:p>
            <a:r>
              <a:rPr lang="en-US"/>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5" y="6453006"/>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324544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45736" y="320040"/>
            <a:ext cx="6858000" cy="932688"/>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45736" y="1380744"/>
            <a:ext cx="685800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745737" y="6453006"/>
            <a:ext cx="3494315" cy="365125"/>
          </a:xfrm>
        </p:spPr>
        <p:txBody>
          <a:bodyPr/>
          <a:lstStyle/>
          <a:p>
            <a:fld id="{30F2F577-5BDA-4749-9F3F-0D340DC0D6A8}" type="datetime1">
              <a:rPr lang="en-US" smtClean="0"/>
              <a:t>11/18/2025</a:t>
            </a:fld>
            <a:endParaRPr lang="en-US"/>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635953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320040"/>
            <a:ext cx="6858000" cy="93268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380744"/>
            <a:ext cx="685800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3" y="0"/>
            <a:ext cx="4100267"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p:txBody>
          <a:bodyPr/>
          <a:lstStyle/>
          <a:p>
            <a:fld id="{AC9378AD-A6D7-4162-BB5C-47C49B2E145B}" type="datetime1">
              <a:rPr lang="en-US" smtClean="0"/>
              <a:t>11/18/2025</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800" y="6453006"/>
            <a:ext cx="2805405"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3" y="6453006"/>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628471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53808" y="584339"/>
            <a:ext cx="4361688" cy="1527048"/>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6611509"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53745" y="2212975"/>
            <a:ext cx="4362451"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253745" y="6453006"/>
            <a:ext cx="1622776" cy="365125"/>
          </a:xfrm>
        </p:spPr>
        <p:txBody>
          <a:bodyPr/>
          <a:lstStyle>
            <a:lvl1pPr>
              <a:defRPr>
                <a:solidFill>
                  <a:schemeClr val="tx1"/>
                </a:solidFill>
                <a:effectLst/>
              </a:defRPr>
            </a:lvl1pPr>
          </a:lstStyle>
          <a:p>
            <a:fld id="{C67B65D3-547A-48A8-9F1F-13ED0B55ACC6}" type="datetime1">
              <a:rPr lang="en-US" smtClean="0"/>
              <a:t>11/18/2025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2699538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4361688" cy="152704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8" y="2212975"/>
            <a:ext cx="4360863"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2" y="6453006"/>
            <a:ext cx="2031073" cy="365125"/>
          </a:xfrm>
        </p:spPr>
        <p:txBody>
          <a:bodyPr/>
          <a:lstStyle/>
          <a:p>
            <a:fld id="{76A7CFE7-E645-4439-AA6B-DA8CF856D63E}" type="datetime1">
              <a:rPr lang="en-US" smtClean="0"/>
              <a:t>11/18/2025</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6"/>
            <a:ext cx="280540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7" y="6453006"/>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1156779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320040"/>
            <a:ext cx="4522936" cy="932688"/>
          </a:xfrm>
        </p:spPr>
        <p:txBody>
          <a:bodyPr anchor="b"/>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6492240"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90" y="1380744"/>
            <a:ext cx="4512601"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104492" y="6453006"/>
            <a:ext cx="1772029" cy="365125"/>
          </a:xfrm>
        </p:spPr>
        <p:txBody>
          <a:bodyPr/>
          <a:lstStyle>
            <a:lvl1pPr>
              <a:defRPr>
                <a:solidFill>
                  <a:schemeClr val="tx1"/>
                </a:solidFill>
                <a:effectLst/>
              </a:defRPr>
            </a:lvl1pPr>
          </a:lstStyle>
          <a:p>
            <a:fld id="{E8B2C0DB-994F-48B0-91F4-5F06C3B86E32}" type="datetime1">
              <a:rPr lang="en-US" smtClean="0"/>
              <a:t>11/18/2025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600391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20040"/>
            <a:ext cx="4572000" cy="932688"/>
          </a:xfrm>
        </p:spPr>
        <p:txBody>
          <a:bodyPr anchor="b"/>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380744"/>
            <a:ext cx="457200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2" y="6453006"/>
            <a:ext cx="2031073" cy="365125"/>
          </a:xfrm>
        </p:spPr>
        <p:txBody>
          <a:bodyPr/>
          <a:lstStyle/>
          <a:p>
            <a:fld id="{D3F6A089-BE3E-4BB0-98EE-FDF712FF3613}" type="datetime1">
              <a:rPr lang="en-US" smtClean="0"/>
              <a:t>11/18/2025</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3" y="0"/>
            <a:ext cx="6274279"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6"/>
            <a:ext cx="280540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7" y="6453006"/>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7153701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83413"/>
            <a:ext cx="3401568" cy="1527048"/>
          </a:xfrm>
        </p:spPr>
        <p:txBody>
          <a:bodyPr anchor="b">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1" y="2212975"/>
            <a:ext cx="3401568"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212663" y="6453006"/>
            <a:ext cx="922372" cy="365125"/>
          </a:xfrm>
        </p:spPr>
        <p:txBody>
          <a:bodyPr/>
          <a:lstStyle/>
          <a:p>
            <a:fld id="{AC101298-AE91-4071-9C72-5A98117ABE14}" type="datetime1">
              <a:rPr lang="en-US" smtClean="0"/>
              <a:t>11/18/2025</a:t>
            </a:fld>
            <a:endParaRPr lang="en-US"/>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7" y="6453006"/>
            <a:ext cx="2546891"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025043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3401568" cy="1527048"/>
          </a:xfrm>
        </p:spPr>
        <p:txBody>
          <a:bodyPr anchor="b">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3401568"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2" y="6453006"/>
            <a:ext cx="1067625" cy="365125"/>
          </a:xfrm>
        </p:spPr>
        <p:txBody>
          <a:bodyPr/>
          <a:lstStyle/>
          <a:p>
            <a:fld id="{EABE4333-790C-44CD-B503-F52418ED809A}" type="datetime1">
              <a:rPr lang="en-US" smtClean="0"/>
              <a:t>11/18/2025</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761781" y="0"/>
            <a:ext cx="7430219"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204787" y="6453006"/>
            <a:ext cx="280540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960429" y="6453006"/>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6478958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3" y="1078994"/>
            <a:ext cx="3273552" cy="1942773"/>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781365"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099816"/>
            <a:ext cx="3273552" cy="2953512"/>
          </a:xfrm>
        </p:spPr>
        <p:txBody>
          <a:bodyPr>
            <a:normAutofit/>
          </a:bodyPr>
          <a:lstStyle>
            <a:lvl1pPr marL="0" indent="0">
              <a:buNone/>
              <a:defRPr sz="1600"/>
            </a:lvl1pPr>
            <a:lvl2pPr marL="228594" indent="0">
              <a:buNone/>
              <a:defRPr sz="1400"/>
            </a:lvl2pPr>
            <a:lvl3pPr marL="457189" indent="0">
              <a:buNone/>
              <a:defRPr sz="1400"/>
            </a:lvl3pPr>
            <a:lvl4pPr marL="685783" indent="0">
              <a:buNone/>
              <a:defRPr sz="1400"/>
            </a:lvl4pPr>
            <a:lvl5pPr marL="914377"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4" y="6453006"/>
            <a:ext cx="1003659" cy="365125"/>
          </a:xfrm>
        </p:spPr>
        <p:txBody>
          <a:bodyPr/>
          <a:lstStyle>
            <a:lvl1pPr>
              <a:defRPr>
                <a:solidFill>
                  <a:schemeClr val="tx1"/>
                </a:solidFill>
                <a:effectLst/>
              </a:defRPr>
            </a:lvl1pPr>
          </a:lstStyle>
          <a:p>
            <a:fld id="{D2397CCD-8E49-4379-8DCB-9F17CAEDFC10}" type="datetime1">
              <a:rPr lang="en-US" smtClean="0"/>
              <a:t>11/18/2025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3" y="6453006"/>
            <a:ext cx="2335165"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153655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012268"/>
            <a:ext cx="3739896" cy="1390330"/>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A6146F6-C62B-441B-BAD2-D550454B4D53}" type="datetime1">
              <a:rPr lang="en-US" smtClean="0"/>
              <a:t>11/18/2025</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rmAutofit/>
          </a:bodyPr>
          <a:lstStyle>
            <a:lvl1pPr marL="0" indent="0">
              <a:buFont typeface="Arial" panose="020B0604020202020204" pitchFamily="34" charset="0"/>
              <a:buNone/>
              <a:defRPr sz="1600"/>
            </a:lvl1pPr>
            <a:lvl2pPr marL="228594" indent="0">
              <a:buFont typeface="Arial" panose="020B0604020202020204" pitchFamily="34" charset="0"/>
              <a:buNone/>
              <a:defRPr sz="1400"/>
            </a:lvl2pPr>
            <a:lvl3pPr marL="457189" indent="0">
              <a:buFont typeface="Arial" panose="020B0604020202020204" pitchFamily="34" charset="0"/>
              <a:buNone/>
              <a:defRPr sz="1400"/>
            </a:lvl3pPr>
            <a:lvl4pPr marL="685783" indent="0">
              <a:buFont typeface="Arial" panose="020B0604020202020204" pitchFamily="34" charset="0"/>
              <a:buNone/>
              <a:defRPr sz="1400"/>
            </a:lvl4pPr>
            <a:lvl5pPr marL="914377"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4824765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9" cy="1892808"/>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0383A68-D563-4FD5-B11F-54F8D5F1E37F}" type="datetime1">
              <a:rPr lang="en-US" smtClean="0"/>
              <a:t>11/18/2025</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rmAutofit/>
          </a:bodyPr>
          <a:lstStyle>
            <a:lvl1pPr marL="285744" indent="-285744">
              <a:buFont typeface="Arial" panose="020B0604020202020204" pitchFamily="34" charset="0"/>
              <a:buChar char="•"/>
              <a:defRPr sz="1800"/>
            </a:lvl1pPr>
            <a:lvl2pPr marL="514338" indent="-285744">
              <a:buFont typeface="Arial" panose="020B0604020202020204" pitchFamily="34" charset="0"/>
              <a:buChar char="•"/>
              <a:defRPr sz="1600"/>
            </a:lvl2pPr>
            <a:lvl3pPr marL="742932" indent="-285744">
              <a:buFont typeface="Arial" panose="020B0604020202020204" pitchFamily="34" charset="0"/>
              <a:buChar char="•"/>
              <a:defRPr sz="1400"/>
            </a:lvl3pPr>
            <a:lvl4pPr marL="857229" indent="-171446">
              <a:buFont typeface="Arial" panose="020B0604020202020204" pitchFamily="34" charset="0"/>
              <a:buChar char="•"/>
              <a:defRPr sz="1400"/>
            </a:lvl4pPr>
            <a:lvl5pPr marL="1085824" indent="-171446">
              <a:buFont typeface="Arial" panose="020B0604020202020204" pitchFamily="34" charset="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2211599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9" cy="1892808"/>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3079730"/>
            <a:ext cx="12192000" cy="377827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1" y="59778"/>
            <a:ext cx="3494315" cy="365125"/>
          </a:xfrm>
        </p:spPr>
        <p:txBody>
          <a:bodyPr/>
          <a:lstStyle/>
          <a:p>
            <a:fld id="{3148FABB-02FF-476F-AB37-BDD0E354E780}" type="datetime1">
              <a:rPr lang="en-US" smtClean="0"/>
              <a:t>11/18/2025</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rmAutofit/>
          </a:bodyPr>
          <a:lstStyle>
            <a:lvl1pPr marL="285744" indent="-285744">
              <a:buFont typeface="Arial" panose="020B0604020202020204" pitchFamily="34" charset="0"/>
              <a:buChar char="•"/>
              <a:defRPr sz="1800"/>
            </a:lvl1pPr>
            <a:lvl2pPr marL="514338" indent="-285744">
              <a:buFont typeface="Arial" panose="020B0604020202020204" pitchFamily="34" charset="0"/>
              <a:buChar char="•"/>
              <a:defRPr sz="1600"/>
            </a:lvl2pPr>
            <a:lvl3pPr marL="742932" indent="-285744">
              <a:buFont typeface="Arial" panose="020B0604020202020204" pitchFamily="34" charset="0"/>
              <a:buChar char="•"/>
              <a:defRPr sz="1400"/>
            </a:lvl3pPr>
            <a:lvl4pPr marL="857229" indent="-171446">
              <a:buFont typeface="Arial" panose="020B0604020202020204" pitchFamily="34" charset="0"/>
              <a:buChar char="•"/>
              <a:defRPr sz="1400"/>
            </a:lvl4pPr>
            <a:lvl5pPr marL="1085824" indent="-171446">
              <a:buFont typeface="Arial" panose="020B0604020202020204" pitchFamily="34" charset="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3" y="59778"/>
            <a:ext cx="2805405"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5" y="59778"/>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9117027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5" y="603508"/>
            <a:ext cx="10972803" cy="970463"/>
          </a:xfrm>
        </p:spPr>
        <p:txBody>
          <a:bodyPr anchor="ct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12645" y="1828800"/>
            <a:ext cx="6172200" cy="4425696"/>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27395" y="1828803"/>
            <a:ext cx="4251960" cy="44288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BCA428D3-736A-4038-886C-8BF662AA2745}" type="datetime1">
              <a:rPr lang="en-US" smtClean="0"/>
              <a:t>11/18/2025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5031670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a:normAutofit/>
          </a:bodyPr>
          <a:lstStyle>
            <a:lvl1pPr>
              <a:defRPr sz="36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12648" y="2290890"/>
            <a:ext cx="4672584" cy="4041648"/>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7"/>
            <a:ext cx="5585925" cy="57832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ED1DDEB-9B85-4E99-8A3D-ABE66C6280C3}" type="datetime1">
              <a:rPr lang="en-US" smtClean="0"/>
              <a:t>11/18/2025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4495392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80" y="550217"/>
            <a:ext cx="3657603" cy="1453896"/>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31521" y="2295144"/>
            <a:ext cx="3490176" cy="4041648"/>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1" y="549275"/>
            <a:ext cx="6561139" cy="57594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7A65DCA-443F-4667-9ED1-418507CE45A8}" type="datetime1">
              <a:rPr lang="en-US" smtClean="0"/>
              <a:t>11/18/2025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928090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ig Numb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694944" y="4718304"/>
            <a:ext cx="5897880" cy="1353312"/>
          </a:xfrm>
        </p:spPr>
        <p:txBody>
          <a:bodyPr vert="horz" lIns="91440" tIns="45720" rIns="91440" bIns="45720" rtlCol="0" anchor="t">
            <a:normAutofit/>
          </a:bodyPr>
          <a:lstStyle>
            <a:lvl1pPr>
              <a:lnSpc>
                <a:spcPct val="120000"/>
              </a:lnSpc>
              <a:defRPr lang="en-US" sz="2800" b="0" dirty="0">
                <a:solidFill>
                  <a:schemeClr val="accent1">
                    <a:lumMod val="75000"/>
                  </a:schemeClr>
                </a:solidFill>
                <a:latin typeface="+mn-lt"/>
              </a:defRPr>
            </a:lvl1pPr>
          </a:lstStyle>
          <a:p>
            <a:pPr lvl="0"/>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39496" y="603503"/>
            <a:ext cx="10826496" cy="4334256"/>
          </a:xfrm>
        </p:spPr>
        <p:txBody>
          <a:bodyPr vert="horz" lIns="91440" tIns="45720" rIns="91440" bIns="45720" rtlCol="0" anchor="b">
            <a:normAutofit/>
          </a:bodyPr>
          <a:lstStyle>
            <a:lvl1pPr marL="0" indent="0">
              <a:lnSpc>
                <a:spcPct val="90000"/>
              </a:lnSpc>
              <a:spcBef>
                <a:spcPts val="0"/>
              </a:spcBef>
              <a:buNone/>
              <a:defRPr lang="en-US" sz="23199" b="1" dirty="0">
                <a:solidFill>
                  <a:schemeClr val="accent1">
                    <a:lumMod val="75000"/>
                  </a:schemeClr>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8CA1557D-4816-44D0-B6EE-6CAC6E30B54D}" type="datetime1">
              <a:rPr lang="en-US" smtClean="0"/>
              <a:t>11/18/2025</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486018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Big Numb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800" b="0">
                <a:solidFill>
                  <a:schemeClr val="accent1">
                    <a:lumMod val="75000"/>
                  </a:schemeClr>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640079"/>
            <a:ext cx="10543032" cy="4206240"/>
          </a:xfrm>
        </p:spPr>
        <p:txBody>
          <a:bodyPr anchor="b">
            <a:normAutofit/>
          </a:bodyPr>
          <a:lstStyle>
            <a:lvl1pPr marL="0" indent="0" algn="ctr">
              <a:lnSpc>
                <a:spcPct val="90000"/>
              </a:lnSpc>
              <a:buNone/>
              <a:defRPr sz="23199" b="1">
                <a:solidFill>
                  <a:schemeClr val="accent1">
                    <a:lumMod val="75000"/>
                  </a:schemeClr>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651F872E-5ED2-46B0-83A4-0C1AF0E0D91C}" type="datetime1">
              <a:rPr lang="en-US" smtClean="0"/>
              <a:t>11/18/2025</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75063661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Big Number 3">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4B1ECB8-9E10-D2F3-E361-7D268551E2E2}"/>
              </a:ext>
            </a:extLst>
          </p:cNvPr>
          <p:cNvSpPr/>
          <p:nvPr/>
        </p:nvSpPr>
        <p:spPr>
          <a:xfrm>
            <a:off x="0" y="0"/>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800" b="0">
                <a:solidFill>
                  <a:schemeClr val="tx1"/>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640079"/>
            <a:ext cx="10543032" cy="4206240"/>
          </a:xfrm>
        </p:spPr>
        <p:txBody>
          <a:bodyPr anchor="b">
            <a:normAutofit/>
          </a:bodyPr>
          <a:lstStyle>
            <a:lvl1pPr marL="0" indent="0" algn="ctr">
              <a:lnSpc>
                <a:spcPct val="90000"/>
              </a:lnSpc>
              <a:buNone/>
              <a:defRPr sz="23199" b="1">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C6218575-0C6E-47B4-936E-32183810D7BF}" type="datetime1">
              <a:rPr lang="en-US" smtClean="0"/>
              <a:t>11/18/2025</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89759620"/>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91C29FB5-1C86-423F-AEAA-2683840666C3}" type="datetime1">
              <a:rPr lang="en-US" smtClean="0"/>
              <a:t>11/18/2025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lvl1pPr>
            <a:lvl2pPr marL="228594" indent="0">
              <a:lnSpc>
                <a:spcPct val="100000"/>
              </a:lnSpc>
              <a:buNone/>
              <a:defRPr sz="4800" b="1"/>
            </a:lvl2pPr>
            <a:lvl3pPr marL="457189" indent="0">
              <a:lnSpc>
                <a:spcPct val="100000"/>
              </a:lnSpc>
              <a:buNone/>
              <a:defRPr sz="4400" b="1"/>
            </a:lvl3pPr>
            <a:lvl4pPr marL="685783" indent="0">
              <a:lnSpc>
                <a:spcPct val="100000"/>
              </a:lnSpc>
              <a:buNone/>
              <a:defRPr sz="4000" b="1"/>
            </a:lvl4pPr>
            <a:lvl5pPr marL="914377" indent="0">
              <a:lnSpc>
                <a:spcPct val="100000"/>
              </a:lnSpc>
              <a:buNone/>
              <a:defRPr sz="36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8373464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111CCB4E-88AF-46AC-B7C5-30308F179659}" type="datetime1">
              <a:rPr lang="en-US" smtClean="0"/>
              <a:t>11/18/2025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929384"/>
            <a:ext cx="8266176" cy="4142232"/>
          </a:xfrm>
        </p:spPr>
        <p:txBody>
          <a:bodyPr anchor="b">
            <a:normAutofit/>
          </a:bodyPr>
          <a:lstStyle>
            <a:lvl1pPr marL="0" indent="0">
              <a:lnSpc>
                <a:spcPct val="100000"/>
              </a:lnSpc>
              <a:buNone/>
              <a:defRPr sz="5000" b="1"/>
            </a:lvl1pPr>
            <a:lvl2pPr marL="228594" indent="0">
              <a:lnSpc>
                <a:spcPct val="100000"/>
              </a:lnSpc>
              <a:buNone/>
              <a:defRPr sz="4400" b="1"/>
            </a:lvl2pPr>
            <a:lvl3pPr marL="457189" indent="0">
              <a:lnSpc>
                <a:spcPct val="100000"/>
              </a:lnSpc>
              <a:buNone/>
              <a:defRPr sz="4000" b="1"/>
            </a:lvl3pPr>
            <a:lvl4pPr marL="685783" indent="0">
              <a:lnSpc>
                <a:spcPct val="100000"/>
              </a:lnSpc>
              <a:buNone/>
              <a:defRPr sz="3600" b="1"/>
            </a:lvl4pPr>
            <a:lvl5pPr marL="914377" indent="0">
              <a:lnSpc>
                <a:spcPct val="100000"/>
              </a:lnSpc>
              <a:buNone/>
              <a:defRPr sz="32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1808578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BA915B6-CC2A-4462-A7E5-B3080DF8F97D}" type="datetime1">
              <a:rPr lang="en-US" smtClean="0"/>
              <a:t>11/18/2025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rmAutofit/>
          </a:bodyPr>
          <a:lstStyle>
            <a:lvl1pPr marL="0" indent="0">
              <a:lnSpc>
                <a:spcPct val="100000"/>
              </a:lnSpc>
              <a:buNone/>
              <a:defRPr sz="5000" b="1"/>
            </a:lvl1pPr>
            <a:lvl2pPr marL="228594" indent="0">
              <a:lnSpc>
                <a:spcPct val="100000"/>
              </a:lnSpc>
              <a:buNone/>
              <a:defRPr sz="4400" b="1"/>
            </a:lvl2pPr>
            <a:lvl3pPr marL="457189" indent="0">
              <a:lnSpc>
                <a:spcPct val="100000"/>
              </a:lnSpc>
              <a:buNone/>
              <a:defRPr sz="4000" b="1"/>
            </a:lvl3pPr>
            <a:lvl4pPr marL="685783" indent="0">
              <a:lnSpc>
                <a:spcPct val="100000"/>
              </a:lnSpc>
              <a:buNone/>
              <a:defRPr sz="3600" b="1"/>
            </a:lvl4pPr>
            <a:lvl5pPr marL="914377" indent="0">
              <a:lnSpc>
                <a:spcPct val="100000"/>
              </a:lnSpc>
              <a:buNone/>
              <a:defRPr sz="32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0450033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11" y="5431536"/>
            <a:ext cx="9021471" cy="466344"/>
          </a:xfrm>
        </p:spPr>
        <p:txBody>
          <a:bodyPr anchor="ctr">
            <a:normAutofit/>
          </a:bodyPr>
          <a:lstStyle>
            <a:lvl1pPr>
              <a:lnSpc>
                <a:spcPct val="120000"/>
              </a:lnSpc>
              <a:defRPr sz="220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3657600"/>
          </a:xfrm>
        </p:spPr>
        <p:txBody>
          <a:bodyPr anchor="ctr">
            <a:normAutofit/>
          </a:bodyPr>
          <a:lstStyle>
            <a:lvl1pPr marL="164588" indent="-164588">
              <a:lnSpc>
                <a:spcPct val="100000"/>
              </a:lnSpc>
              <a:spcBef>
                <a:spcPts val="0"/>
              </a:spcBef>
              <a:buNone/>
              <a:defRPr sz="4000">
                <a:latin typeface="+mj-lt"/>
              </a:defRPr>
            </a:lvl1pPr>
          </a:lstStyle>
          <a:p>
            <a:pPr lvl="0"/>
            <a:r>
              <a:rPr lang="en-US" dirty="0"/>
              <a:t>Click to edit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506188F7-A494-4EEB-A53D-2B97B1D4CD3C}" type="datetime1">
              <a:rPr lang="en-US" smtClean="0"/>
              <a:t>11/18/2025</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9261574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2">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6DECC02-1725-49EE-C93B-A4C2C4049458}"/>
              </a:ext>
            </a:extLst>
          </p:cNvPr>
          <p:cNvSpPr/>
          <p:nvPr/>
        </p:nvSpPr>
        <p:spPr>
          <a:xfrm>
            <a:off x="0" y="1"/>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5349240"/>
            <a:ext cx="9043416"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344168"/>
            <a:ext cx="9198864" cy="3291840"/>
          </a:xfrm>
        </p:spPr>
        <p:txBody>
          <a:bodyPr anchor="ctr">
            <a:normAutofit/>
          </a:bodyPr>
          <a:lstStyle>
            <a:lvl1pPr marL="164588" indent="-164588">
              <a:lnSpc>
                <a:spcPct val="100000"/>
              </a:lnSpc>
              <a:spcBef>
                <a:spcPts val="0"/>
              </a:spcBef>
              <a:buNone/>
              <a:defRPr sz="4000">
                <a:latin typeface="+mj-lt"/>
              </a:defRPr>
            </a:lvl1pPr>
          </a:lstStyle>
          <a:p>
            <a:pPr lvl="0"/>
            <a:r>
              <a:rPr lang="en-US" dirty="0"/>
              <a:t>Click to edit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9F406BC0-1562-42E5-89A2-925CA193C8A6}" type="datetime1">
              <a:rPr lang="en-US" smtClean="0"/>
              <a:t>11/18/2025</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3255094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790041" y="5669280"/>
            <a:ext cx="8805672" cy="466344"/>
          </a:xfrm>
        </p:spPr>
        <p:txBody>
          <a:bodyPr anchor="ctr">
            <a:normAutofit/>
          </a:bodyPr>
          <a:lstStyle>
            <a:lvl1pPr>
              <a:lnSpc>
                <a:spcPct val="120000"/>
              </a:lnSpc>
              <a:defRPr sz="220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1097280"/>
            <a:ext cx="8961120" cy="3474720"/>
          </a:xfrm>
        </p:spPr>
        <p:txBody>
          <a:bodyPr anchor="ctr">
            <a:normAutofit/>
          </a:bodyPr>
          <a:lstStyle>
            <a:lvl1pPr marL="164588" indent="-164588">
              <a:lnSpc>
                <a:spcPct val="100000"/>
              </a:lnSpc>
              <a:spcBef>
                <a:spcPts val="0"/>
              </a:spcBef>
              <a:buNone/>
              <a:defRPr sz="4200">
                <a:latin typeface="+mj-lt"/>
              </a:defRPr>
            </a:lvl1pPr>
          </a:lstStyle>
          <a:p>
            <a:pPr lvl="0"/>
            <a:r>
              <a:rPr lang="en-US" dirty="0"/>
              <a:t>Click to edit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507F376A-778D-45CF-8340-DB03B2DA6A3E}" type="datetime1">
              <a:rPr lang="en-US" smtClean="0"/>
              <a:t>11/18/2025</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0272218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dirty="0"/>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612775"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B9DFF5A-622E-43FE-9EE9-BAAB78AB2046}" type="datetime1">
              <a:rPr lang="en-US" smtClean="0"/>
              <a:t>11/18/2025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0142031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2" y="547396"/>
            <a:ext cx="10745788" cy="114329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1" y="1685735"/>
            <a:ext cx="5157787" cy="559834"/>
          </a:xfrm>
        </p:spPr>
        <p:txBody>
          <a:bodyPr anchor="b">
            <a:normAutofit/>
          </a:bodyPr>
          <a:lstStyle>
            <a:lvl1pPr marL="0" indent="0">
              <a:lnSpc>
                <a:spcPct val="90000"/>
              </a:lnSpc>
              <a:buNone/>
              <a:defRPr sz="2000" b="1" cap="all" baseline="0"/>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609602" y="2387604"/>
            <a:ext cx="5157788" cy="3763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2" y="1685735"/>
            <a:ext cx="5183188" cy="559834"/>
          </a:xfrm>
        </p:spPr>
        <p:txBody>
          <a:bodyPr anchor="b">
            <a:normAutofit/>
          </a:bodyPr>
          <a:lstStyle>
            <a:lvl1pPr marL="0" indent="0">
              <a:lnSpc>
                <a:spcPct val="90000"/>
              </a:lnSpc>
              <a:buNone/>
              <a:defRPr sz="2000" b="1" cap="all" baseline="0"/>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2" y="2387604"/>
            <a:ext cx="5183188" cy="3763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F55C09E-FF30-4AA0-A227-171955622259}" type="datetime1">
              <a:rPr lang="en-US" smtClean="0"/>
              <a:t>11/18/2025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2812031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97B279FF-407B-4B41-9E69-DE66ED04A328}" type="datetime1">
              <a:rPr lang="en-US" smtClean="0"/>
              <a:t>11/18/2025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3231754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803E812-757D-4139-AF81-227C72D4B544}" type="datetime1">
              <a:rPr lang="en-US" smtClean="0"/>
              <a:t>11/18/2025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4069225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9" y="553620"/>
            <a:ext cx="3595635" cy="1757505"/>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9" y="2311125"/>
            <a:ext cx="3595635" cy="3993263"/>
          </a:xfrm>
        </p:spPr>
        <p:txBody>
          <a:bodyPr anchor="t">
            <a:normAutofit/>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9" y="553619"/>
            <a:ext cx="6440259" cy="5755109"/>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07D6A7E1-C424-43A5-938A-12DEC0A1D59D}" type="datetime1">
              <a:rPr lang="en-US" smtClean="0"/>
              <a:t>11/18/2025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0721809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9" y="557788"/>
            <a:ext cx="3595635" cy="2212313"/>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9" y="2826137"/>
            <a:ext cx="3585587" cy="3434638"/>
          </a:xfrm>
        </p:spPr>
        <p:txBody>
          <a:bodyPr anchor="b"/>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063319" y="557788"/>
            <a:ext cx="6519080" cy="5779007"/>
          </a:xfrm>
          <a:blipFill dpi="0" rotWithShape="1">
            <a:blip r:embed="rId2">
              <a:alphaModFix amt="60000"/>
            </a:blip>
            <a:srcRect/>
            <a:stretch>
              <a:fillRect/>
            </a:stretch>
          </a:blipFill>
        </p:spPr>
        <p:txBody>
          <a:bodyPr>
            <a:normAutofit/>
          </a:bodyPr>
          <a:lstStyle>
            <a:lvl1pPr marL="0" indent="0">
              <a:buNone/>
              <a:defRPr sz="1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dirty="0"/>
              <a: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807C4FC2-B89B-4919-A96B-662A3584681C}" type="datetime1">
              <a:rPr lang="en-US" smtClean="0"/>
              <a:t>11/18/2025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7096818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847088"/>
            <a:ext cx="10888473" cy="1133856"/>
          </a:xfrm>
        </p:spPr>
        <p:txBody>
          <a:bodyPr anchor="b">
            <a:normAutofit/>
          </a:bodyPr>
          <a:lstStyle>
            <a:lvl1pPr>
              <a:defRPr sz="6000"/>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7" y="3594099"/>
            <a:ext cx="10890375" cy="2743200"/>
          </a:xfrm>
        </p:spPr>
        <p:txBody>
          <a:bodyPr/>
          <a:lstStyle>
            <a:lvl1pPr marL="0" indent="0">
              <a:buNone/>
              <a:defRPr/>
            </a:lvl1pPr>
            <a:lvl2pPr marL="228594" indent="0">
              <a:buNone/>
              <a:defRPr/>
            </a:lvl2pPr>
            <a:lvl3pPr marL="457189" indent="0">
              <a:buNone/>
              <a:defRPr/>
            </a:lvl3pPr>
            <a:lvl4pPr marL="685783" indent="0">
              <a:buNone/>
              <a:defRPr/>
            </a:lvl4pPr>
            <a:lvl5pPr marL="914377"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C24BE51-D660-433D-AABA-154BE028E64E}" type="datetime1">
              <a:rPr lang="en-US" smtClean="0"/>
              <a:t>11/18/2025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55297712"/>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50" y="1627318"/>
            <a:ext cx="8430767" cy="1842020"/>
          </a:xfrm>
        </p:spPr>
        <p:txBody>
          <a:bodyPr anchor="b">
            <a:normAutofit/>
          </a:bodyPr>
          <a:lstStyle>
            <a:lvl1pPr>
              <a:defRPr sz="6000"/>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8" y="3622678"/>
            <a:ext cx="8430639" cy="1279615"/>
          </a:xfrm>
        </p:spPr>
        <p:txBody>
          <a:bodyPr>
            <a:normAutofit/>
          </a:bodyPr>
          <a:lstStyle>
            <a:lvl1pPr marL="0" indent="0">
              <a:buNone/>
              <a:defRPr sz="2400"/>
            </a:lvl1pPr>
            <a:lvl2pPr marL="228594" indent="0">
              <a:buNone/>
              <a:defRPr sz="2000"/>
            </a:lvl2pPr>
            <a:lvl3pPr marL="457189" indent="0">
              <a:buNone/>
              <a:defRPr sz="1800"/>
            </a:lvl3pPr>
            <a:lvl4pPr marL="685783" indent="0">
              <a:buNone/>
              <a:defRPr sz="1600"/>
            </a:lvl4pPr>
            <a:lvl5pPr marL="914377"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B61F76E-6064-4431-B5C4-29A511725BCF}" type="datetime1">
              <a:rPr lang="en-US" smtClean="0"/>
              <a:t>11/18/2025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81676645"/>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9" y="548640"/>
            <a:ext cx="10653579"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9" y="1715532"/>
            <a:ext cx="10653579"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1" y="6453006"/>
            <a:ext cx="3494315" cy="365125"/>
          </a:xfrm>
          <a:prstGeom prst="rect">
            <a:avLst/>
          </a:prstGeom>
        </p:spPr>
        <p:txBody>
          <a:bodyPr vert="horz" lIns="91440" tIns="45720" rIns="91440" bIns="45720" rtlCol="0" anchor="ctr"/>
          <a:lstStyle>
            <a:lvl1pPr algn="l">
              <a:defRPr sz="900">
                <a:solidFill>
                  <a:schemeClr val="tx1"/>
                </a:solidFill>
              </a:defRPr>
            </a:lvl1pPr>
          </a:lstStyle>
          <a:p>
            <a:fld id="{5EE9E671-1C83-40F7-9D33-FE8AAC7F721F}" type="datetime1">
              <a:rPr lang="en-US" smtClean="0"/>
              <a:t>11/18/2025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3" y="6453006"/>
            <a:ext cx="2805405" cy="365125"/>
          </a:xfrm>
          <a:prstGeom prst="rect">
            <a:avLst/>
          </a:prstGeom>
        </p:spPr>
        <p:txBody>
          <a:bodyPr vert="horz" lIns="91440" tIns="45720" rIns="91440" bIns="45720" rtlCol="0" anchor="ctr"/>
          <a:lstStyle>
            <a:lvl1pPr algn="r">
              <a:defRPr sz="900">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5" y="6453006"/>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2378351867"/>
      </p:ext>
    </p:extLst>
  </p:cSld>
  <p:clrMap bg1="lt1" tx1="dk1" bg2="lt2" tx2="dk2" accent1="accent1" accent2="accent2" accent3="accent3" accent4="accent4" accent5="accent5" accent6="accent6" hlink="hlink" folHlink="folHlink"/>
  <p:sldLayoutIdLst>
    <p:sldLayoutId id="2147483749" r:id="rId1"/>
    <p:sldLayoutId id="2147483748" r:id="rId2"/>
    <p:sldLayoutId id="2147483750"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4" r:id="rId16"/>
    <p:sldLayoutId id="2147483715" r:id="rId17"/>
    <p:sldLayoutId id="2147483716" r:id="rId18"/>
    <p:sldLayoutId id="2147483717" r:id="rId19"/>
    <p:sldLayoutId id="2147483718" r:id="rId20"/>
    <p:sldLayoutId id="2147483719" r:id="rId21"/>
    <p:sldLayoutId id="2147483720" r:id="rId22"/>
    <p:sldLayoutId id="2147483721" r:id="rId23"/>
    <p:sldLayoutId id="2147483722" r:id="rId24"/>
    <p:sldLayoutId id="2147483723" r:id="rId25"/>
    <p:sldLayoutId id="2147483724" r:id="rId26"/>
    <p:sldLayoutId id="2147483725" r:id="rId27"/>
    <p:sldLayoutId id="2147483726" r:id="rId28"/>
    <p:sldLayoutId id="2147483727" r:id="rId29"/>
    <p:sldLayoutId id="2147483728" r:id="rId30"/>
    <p:sldLayoutId id="2147483729" r:id="rId31"/>
    <p:sldLayoutId id="2147483730" r:id="rId32"/>
    <p:sldLayoutId id="2147483731" r:id="rId33"/>
    <p:sldLayoutId id="2147483732" r:id="rId34"/>
    <p:sldLayoutId id="2147483733" r:id="rId35"/>
    <p:sldLayoutId id="2147483734" r:id="rId36"/>
    <p:sldLayoutId id="2147483735" r:id="rId37"/>
    <p:sldLayoutId id="2147483736" r:id="rId38"/>
    <p:sldLayoutId id="2147483737" r:id="rId39"/>
    <p:sldLayoutId id="2147483738" r:id="rId40"/>
    <p:sldLayoutId id="2147483739" r:id="rId41"/>
    <p:sldLayoutId id="2147483740" r:id="rId42"/>
    <p:sldLayoutId id="2147483741" r:id="rId43"/>
    <p:sldLayoutId id="2147483742" r:id="rId44"/>
    <p:sldLayoutId id="2147483743" r:id="rId45"/>
    <p:sldLayoutId id="2147483744" r:id="rId46"/>
    <p:sldLayoutId id="2147483745" r:id="rId47"/>
    <p:sldLayoutId id="2147483746" r:id="rId48"/>
    <p:sldLayoutId id="2147483747" r:id="rId49"/>
  </p:sldLayoutIdLst>
  <p:hf sldNum="0" hdr="0" ftr="0" dt="0"/>
  <p:txStyles>
    <p:titleStyle>
      <a:lvl1pPr algn="l" defTabSz="914377"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594" indent="-228594" algn="l" defTabSz="914377"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189" indent="-228594" algn="l" defTabSz="914377"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783" indent="-228594" algn="l" defTabSz="914377"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377" indent="-228594" algn="l" defTabSz="914377"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2971" indent="-228594" algn="l" defTabSz="914377"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0.sv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E9BE8-2544-76CF-B166-FFCE307C603C}"/>
              </a:ext>
            </a:extLst>
          </p:cNvPr>
          <p:cNvSpPr>
            <a:spLocks noGrp="1"/>
          </p:cNvSpPr>
          <p:nvPr>
            <p:ph type="ctrTitle"/>
          </p:nvPr>
        </p:nvSpPr>
        <p:spPr>
          <a:xfrm>
            <a:off x="7168896" y="1129558"/>
            <a:ext cx="4361688" cy="3475236"/>
          </a:xfrm>
        </p:spPr>
        <p:txBody>
          <a:bodyPr anchor="b">
            <a:normAutofit/>
          </a:bodyPr>
          <a:lstStyle/>
          <a:p>
            <a:r>
              <a:rPr lang="vi-VN" i="1">
                <a:solidFill>
                  <a:schemeClr val="accent6">
                    <a:lumMod val="75000"/>
                  </a:schemeClr>
                </a:solidFill>
              </a:rPr>
              <a:t>Market &amp; Customer Insights (2010–2011)</a:t>
            </a:r>
            <a:endParaRPr lang="vi-VN">
              <a:solidFill>
                <a:schemeClr val="accent6">
                  <a:lumMod val="75000"/>
                </a:schemeClr>
              </a:solidFill>
            </a:endParaRPr>
          </a:p>
        </p:txBody>
      </p:sp>
      <p:sp>
        <p:nvSpPr>
          <p:cNvPr id="5" name="Subtitle 4">
            <a:extLst>
              <a:ext uri="{FF2B5EF4-FFF2-40B4-BE49-F238E27FC236}">
                <a16:creationId xmlns:a16="http://schemas.microsoft.com/office/drawing/2014/main" id="{482B505C-BD62-FC4E-8EF3-8B588B466412}"/>
              </a:ext>
            </a:extLst>
          </p:cNvPr>
          <p:cNvSpPr>
            <a:spLocks noGrp="1"/>
          </p:cNvSpPr>
          <p:nvPr>
            <p:ph type="subTitle" idx="1"/>
          </p:nvPr>
        </p:nvSpPr>
        <p:spPr>
          <a:xfrm>
            <a:off x="7168897" y="4731340"/>
            <a:ext cx="4206240" cy="1184585"/>
          </a:xfrm>
        </p:spPr>
        <p:txBody>
          <a:bodyPr>
            <a:normAutofit/>
          </a:bodyPr>
          <a:lstStyle/>
          <a:p>
            <a:r>
              <a:rPr lang="en-US" b="1">
                <a:solidFill>
                  <a:schemeClr val="accent6">
                    <a:lumMod val="75000"/>
                  </a:schemeClr>
                </a:solidFill>
              </a:rPr>
              <a:t>Doan Huynh Nhat Vu</a:t>
            </a:r>
            <a:endParaRPr lang="vi-VN" b="1">
              <a:solidFill>
                <a:schemeClr val="accent6">
                  <a:lumMod val="75000"/>
                </a:schemeClr>
              </a:solidFill>
            </a:endParaRPr>
          </a:p>
        </p:txBody>
      </p:sp>
      <p:sp>
        <p:nvSpPr>
          <p:cNvPr id="15" name="Picture Placeholder 3">
            <a:extLst>
              <a:ext uri="{FF2B5EF4-FFF2-40B4-BE49-F238E27FC236}">
                <a16:creationId xmlns:a16="http://schemas.microsoft.com/office/drawing/2014/main" id="{C24633DB-C1AA-CA7A-ED0D-F611E0659EEB}"/>
              </a:ext>
            </a:extLst>
          </p:cNvPr>
          <p:cNvSpPr>
            <a:spLocks noGrp="1"/>
          </p:cNvSpPr>
          <p:nvPr>
            <p:ph type="pic" sz="quarter" idx="13"/>
          </p:nvPr>
        </p:nvSpPr>
        <p:spPr>
          <a:xfrm>
            <a:off x="0" y="0"/>
            <a:ext cx="6584950" cy="6858000"/>
          </a:xfrm>
        </p:spPr>
        <p:txBody>
          <a:bodyPr/>
          <a:lstStyle/>
          <a:p>
            <a:endParaRPr lang="vi-VN"/>
          </a:p>
        </p:txBody>
      </p:sp>
    </p:spTree>
    <p:extLst>
      <p:ext uri="{BB962C8B-B14F-4D97-AF65-F5344CB8AC3E}">
        <p14:creationId xmlns:p14="http://schemas.microsoft.com/office/powerpoint/2010/main" val="4857955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D60D99BA-A8E0-D4AD-66B0-4AACCD55A67D}"/>
              </a:ext>
            </a:extLst>
          </p:cNvPr>
          <p:cNvGrpSpPr/>
          <p:nvPr/>
        </p:nvGrpSpPr>
        <p:grpSpPr>
          <a:xfrm>
            <a:off x="0" y="0"/>
            <a:ext cx="12192000" cy="3632151"/>
            <a:chOff x="-159595" y="-53077"/>
            <a:chExt cx="12511190" cy="4784733"/>
          </a:xfrm>
        </p:grpSpPr>
        <p:sp>
          <p:nvSpPr>
            <p:cNvPr id="9" name="Freeform: Shape 8">
              <a:extLst>
                <a:ext uri="{FF2B5EF4-FFF2-40B4-BE49-F238E27FC236}">
                  <a16:creationId xmlns:a16="http://schemas.microsoft.com/office/drawing/2014/main" id="{B81CF1AD-727E-87BE-0E19-027F0EC965F9}"/>
                </a:ext>
              </a:extLst>
            </p:cNvPr>
            <p:cNvSpPr/>
            <p:nvPr/>
          </p:nvSpPr>
          <p:spPr>
            <a:xfrm>
              <a:off x="-159595" y="-53077"/>
              <a:ext cx="4041575" cy="744028"/>
            </a:xfrm>
            <a:custGeom>
              <a:avLst/>
              <a:gdLst>
                <a:gd name="connsiteX0" fmla="*/ 0 w 3714750"/>
                <a:gd name="connsiteY0" fmla="*/ 0 h 1485900"/>
                <a:gd name="connsiteX1" fmla="*/ 3714750 w 3714750"/>
                <a:gd name="connsiteY1" fmla="*/ 0 h 1485900"/>
                <a:gd name="connsiteX2" fmla="*/ 3714750 w 3714750"/>
                <a:gd name="connsiteY2" fmla="*/ 1485900 h 1485900"/>
                <a:gd name="connsiteX3" fmla="*/ 0 w 3714750"/>
                <a:gd name="connsiteY3" fmla="*/ 1485900 h 1485900"/>
                <a:gd name="connsiteX4" fmla="*/ 0 w 3714750"/>
                <a:gd name="connsiteY4" fmla="*/ 0 h 1485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0" h="1485900">
                  <a:moveTo>
                    <a:pt x="0" y="0"/>
                  </a:moveTo>
                  <a:lnTo>
                    <a:pt x="3714750" y="0"/>
                  </a:lnTo>
                  <a:lnTo>
                    <a:pt x="3714750" y="1485900"/>
                  </a:lnTo>
                  <a:lnTo>
                    <a:pt x="0" y="1485900"/>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0688" tIns="97536" rIns="170688" bIns="97536" numCol="1" spcCol="1270" anchor="ctr" anchorCtr="0">
              <a:noAutofit/>
            </a:bodyPr>
            <a:lstStyle/>
            <a:p>
              <a:pPr algn="ctr" defTabSz="1066773">
                <a:lnSpc>
                  <a:spcPct val="90000"/>
                </a:lnSpc>
                <a:spcBef>
                  <a:spcPct val="0"/>
                </a:spcBef>
                <a:spcAft>
                  <a:spcPct val="35000"/>
                </a:spcAft>
              </a:pPr>
              <a:r>
                <a:rPr lang="en-US" sz="2400">
                  <a:latin typeface="Arial" panose="020B0604020202020204" pitchFamily="34" charset="0"/>
                  <a:cs typeface="Arial" panose="020B0604020202020204" pitchFamily="34" charset="0"/>
                </a:rPr>
                <a:t>External Factors</a:t>
              </a:r>
              <a:endParaRPr lang="vi-VN" sz="2400">
                <a:latin typeface="Arial" panose="020B0604020202020204" pitchFamily="34" charset="0"/>
                <a:cs typeface="Arial" panose="020B0604020202020204" pitchFamily="34" charset="0"/>
              </a:endParaRPr>
            </a:p>
          </p:txBody>
        </p:sp>
        <p:sp>
          <p:nvSpPr>
            <p:cNvPr id="10" name="Freeform: Shape 9">
              <a:extLst>
                <a:ext uri="{FF2B5EF4-FFF2-40B4-BE49-F238E27FC236}">
                  <a16:creationId xmlns:a16="http://schemas.microsoft.com/office/drawing/2014/main" id="{E57E6351-CEDC-120E-7E5A-56C046D9F721}"/>
                </a:ext>
              </a:extLst>
            </p:cNvPr>
            <p:cNvSpPr/>
            <p:nvPr/>
          </p:nvSpPr>
          <p:spPr>
            <a:xfrm>
              <a:off x="-159595" y="704319"/>
              <a:ext cx="4041575" cy="4027337"/>
            </a:xfrm>
            <a:custGeom>
              <a:avLst/>
              <a:gdLst>
                <a:gd name="connsiteX0" fmla="*/ 0 w 3714750"/>
                <a:gd name="connsiteY0" fmla="*/ 0 h 2854800"/>
                <a:gd name="connsiteX1" fmla="*/ 3714750 w 3714750"/>
                <a:gd name="connsiteY1" fmla="*/ 0 h 2854800"/>
                <a:gd name="connsiteX2" fmla="*/ 3714750 w 3714750"/>
                <a:gd name="connsiteY2" fmla="*/ 2854800 h 2854800"/>
                <a:gd name="connsiteX3" fmla="*/ 0 w 3714750"/>
                <a:gd name="connsiteY3" fmla="*/ 2854800 h 2854800"/>
                <a:gd name="connsiteX4" fmla="*/ 0 w 3714750"/>
                <a:gd name="connsiteY4" fmla="*/ 0 h 285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0" h="2854800">
                  <a:moveTo>
                    <a:pt x="0" y="0"/>
                  </a:moveTo>
                  <a:lnTo>
                    <a:pt x="3714750" y="0"/>
                  </a:lnTo>
                  <a:lnTo>
                    <a:pt x="3714750" y="2854800"/>
                  </a:lnTo>
                  <a:lnTo>
                    <a:pt x="0" y="2854800"/>
                  </a:lnTo>
                  <a:lnTo>
                    <a:pt x="0" y="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85344" tIns="85344" rIns="113792" bIns="128016" numCol="1" spcCol="1270" anchor="t" anchorCtr="0">
              <a:noAutofit/>
            </a:bodyPr>
            <a:lstStyle/>
            <a:p>
              <a:pPr marL="171446" lvl="1" indent="-171446" defTabSz="711182">
                <a:lnSpc>
                  <a:spcPct val="90000"/>
                </a:lnSpc>
                <a:spcBef>
                  <a:spcPct val="0"/>
                </a:spcBef>
                <a:spcAft>
                  <a:spcPct val="15000"/>
                </a:spcAft>
                <a:buChar char="•"/>
              </a:pPr>
              <a:r>
                <a:rPr lang="en-US" sz="1600">
                  <a:latin typeface="Arial" panose="020B0604020202020204" pitchFamily="34" charset="0"/>
                  <a:cs typeface="Arial" panose="020B0604020202020204" pitchFamily="34" charset="0"/>
                </a:rPr>
                <a:t>The </a:t>
              </a:r>
              <a:r>
                <a:rPr lang="en-US" sz="1600" b="1">
                  <a:latin typeface="Arial" panose="020B0604020202020204" pitchFamily="34" charset="0"/>
                  <a:cs typeface="Arial" panose="020B0604020202020204" pitchFamily="34" charset="0"/>
                </a:rPr>
                <a:t>United Kingdom</a:t>
              </a:r>
              <a:r>
                <a:rPr lang="en-US" sz="1600">
                  <a:latin typeface="Arial" panose="020B0604020202020204" pitchFamily="34" charset="0"/>
                  <a:cs typeface="Arial" panose="020B0604020202020204" pitchFamily="34" charset="0"/>
                </a:rPr>
                <a:t> accounts for </a:t>
              </a:r>
              <a:r>
                <a:rPr lang="en-US" sz="1600" b="1">
                  <a:latin typeface="Arial" panose="020B0604020202020204" pitchFamily="34" charset="0"/>
                  <a:cs typeface="Arial" panose="020B0604020202020204" pitchFamily="34" charset="0"/>
                </a:rPr>
                <a:t>~85%</a:t>
              </a:r>
              <a:r>
                <a:rPr lang="en-US" sz="1600">
                  <a:latin typeface="Arial" panose="020B0604020202020204" pitchFamily="34" charset="0"/>
                  <a:cs typeface="Arial" panose="020B0604020202020204" pitchFamily="34" charset="0"/>
                </a:rPr>
                <a:t> of total revenue, highlighting the importance of the domestic market alongside cross-border sales.</a:t>
              </a:r>
              <a:endParaRPr lang="vi-VN" sz="1600">
                <a:latin typeface="Arial" panose="020B0604020202020204" pitchFamily="34" charset="0"/>
                <a:cs typeface="Arial" panose="020B0604020202020204" pitchFamily="34" charset="0"/>
              </a:endParaRPr>
            </a:p>
            <a:p>
              <a:pPr marL="171446" lvl="1" indent="-171446" defTabSz="711182">
                <a:lnSpc>
                  <a:spcPct val="90000"/>
                </a:lnSpc>
                <a:spcBef>
                  <a:spcPct val="0"/>
                </a:spcBef>
                <a:spcAft>
                  <a:spcPct val="15000"/>
                </a:spcAft>
                <a:buChar char="•"/>
              </a:pPr>
              <a:r>
                <a:rPr lang="en-US" sz="1600" b="1">
                  <a:latin typeface="Arial" panose="020B0604020202020204" pitchFamily="34" charset="0"/>
                  <a:cs typeface="Arial" panose="020B0604020202020204" pitchFamily="34" charset="0"/>
                </a:rPr>
                <a:t>Q4 (October-December)</a:t>
              </a:r>
              <a:r>
                <a:rPr lang="en-US" sz="1600">
                  <a:latin typeface="Arial" panose="020B0604020202020204" pitchFamily="34" charset="0"/>
                  <a:cs typeface="Arial" panose="020B0604020202020204" pitchFamily="34" charset="0"/>
                </a:rPr>
                <a:t> contributes up to </a:t>
              </a:r>
              <a:r>
                <a:rPr lang="en-US" sz="1600" b="1">
                  <a:latin typeface="Arial" panose="020B0604020202020204" pitchFamily="34" charset="0"/>
                  <a:cs typeface="Arial" panose="020B0604020202020204" pitchFamily="34" charset="0"/>
                </a:rPr>
                <a:t>~38%</a:t>
              </a:r>
              <a:r>
                <a:rPr lang="en-US" sz="1600">
                  <a:latin typeface="Arial" panose="020B0604020202020204" pitchFamily="34" charset="0"/>
                  <a:cs typeface="Arial" panose="020B0604020202020204" pitchFamily="34" charset="0"/>
                </a:rPr>
                <a:t> of the total annual revenue, primarily driven by Christmas shopping demand</a:t>
              </a:r>
              <a:endParaRPr lang="vi-VN" sz="1600">
                <a:latin typeface="Arial" panose="020B0604020202020204" pitchFamily="34" charset="0"/>
                <a:cs typeface="Arial" panose="020B0604020202020204" pitchFamily="34" charset="0"/>
              </a:endParaRPr>
            </a:p>
          </p:txBody>
        </p:sp>
        <p:sp>
          <p:nvSpPr>
            <p:cNvPr id="11" name="Freeform: Shape 10">
              <a:extLst>
                <a:ext uri="{FF2B5EF4-FFF2-40B4-BE49-F238E27FC236}">
                  <a16:creationId xmlns:a16="http://schemas.microsoft.com/office/drawing/2014/main" id="{DF7B3C1A-D648-A6FF-B5CA-2E9C74657978}"/>
                </a:ext>
              </a:extLst>
            </p:cNvPr>
            <p:cNvSpPr/>
            <p:nvPr/>
          </p:nvSpPr>
          <p:spPr>
            <a:xfrm>
              <a:off x="4075220" y="-53077"/>
              <a:ext cx="4041575" cy="744028"/>
            </a:xfrm>
            <a:custGeom>
              <a:avLst/>
              <a:gdLst>
                <a:gd name="connsiteX0" fmla="*/ 0 w 3714750"/>
                <a:gd name="connsiteY0" fmla="*/ 0 h 1485900"/>
                <a:gd name="connsiteX1" fmla="*/ 3714750 w 3714750"/>
                <a:gd name="connsiteY1" fmla="*/ 0 h 1485900"/>
                <a:gd name="connsiteX2" fmla="*/ 3714750 w 3714750"/>
                <a:gd name="connsiteY2" fmla="*/ 1485900 h 1485900"/>
                <a:gd name="connsiteX3" fmla="*/ 0 w 3714750"/>
                <a:gd name="connsiteY3" fmla="*/ 1485900 h 1485900"/>
                <a:gd name="connsiteX4" fmla="*/ 0 w 3714750"/>
                <a:gd name="connsiteY4" fmla="*/ 0 h 1485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0" h="1485900">
                  <a:moveTo>
                    <a:pt x="0" y="0"/>
                  </a:moveTo>
                  <a:lnTo>
                    <a:pt x="3714750" y="0"/>
                  </a:lnTo>
                  <a:lnTo>
                    <a:pt x="3714750" y="1485900"/>
                  </a:lnTo>
                  <a:lnTo>
                    <a:pt x="0" y="1485900"/>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0688" tIns="97536" rIns="170688" bIns="97536" numCol="1" spcCol="1270" anchor="ctr" anchorCtr="0">
              <a:noAutofit/>
            </a:bodyPr>
            <a:lstStyle/>
            <a:p>
              <a:pPr algn="ctr" defTabSz="1066773">
                <a:lnSpc>
                  <a:spcPct val="90000"/>
                </a:lnSpc>
                <a:spcBef>
                  <a:spcPct val="0"/>
                </a:spcBef>
                <a:spcAft>
                  <a:spcPct val="35000"/>
                </a:spcAft>
              </a:pPr>
              <a:r>
                <a:rPr lang="en-US" sz="2400">
                  <a:latin typeface="Arial" panose="020B0604020202020204" pitchFamily="34" charset="0"/>
                  <a:cs typeface="Arial" panose="020B0604020202020204" pitchFamily="34" charset="0"/>
                </a:rPr>
                <a:t>Product &amp; Services</a:t>
              </a:r>
              <a:endParaRPr lang="vi-VN" sz="2400">
                <a:latin typeface="Arial" panose="020B0604020202020204" pitchFamily="34" charset="0"/>
                <a:cs typeface="Arial" panose="020B0604020202020204" pitchFamily="34" charset="0"/>
              </a:endParaRPr>
            </a:p>
          </p:txBody>
        </p:sp>
        <p:sp>
          <p:nvSpPr>
            <p:cNvPr id="12" name="Freeform: Shape 11">
              <a:extLst>
                <a:ext uri="{FF2B5EF4-FFF2-40B4-BE49-F238E27FC236}">
                  <a16:creationId xmlns:a16="http://schemas.microsoft.com/office/drawing/2014/main" id="{1FC6F2D2-D7BC-D513-8DC4-24A03B1695EA}"/>
                </a:ext>
              </a:extLst>
            </p:cNvPr>
            <p:cNvSpPr/>
            <p:nvPr/>
          </p:nvSpPr>
          <p:spPr>
            <a:xfrm>
              <a:off x="4075204" y="704319"/>
              <a:ext cx="4041592" cy="4027337"/>
            </a:xfrm>
            <a:custGeom>
              <a:avLst/>
              <a:gdLst>
                <a:gd name="connsiteX0" fmla="*/ 0 w 3714750"/>
                <a:gd name="connsiteY0" fmla="*/ 0 h 2854800"/>
                <a:gd name="connsiteX1" fmla="*/ 3714750 w 3714750"/>
                <a:gd name="connsiteY1" fmla="*/ 0 h 2854800"/>
                <a:gd name="connsiteX2" fmla="*/ 3714750 w 3714750"/>
                <a:gd name="connsiteY2" fmla="*/ 2854800 h 2854800"/>
                <a:gd name="connsiteX3" fmla="*/ 0 w 3714750"/>
                <a:gd name="connsiteY3" fmla="*/ 2854800 h 2854800"/>
                <a:gd name="connsiteX4" fmla="*/ 0 w 3714750"/>
                <a:gd name="connsiteY4" fmla="*/ 0 h 285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0" h="2854800">
                  <a:moveTo>
                    <a:pt x="0" y="0"/>
                  </a:moveTo>
                  <a:lnTo>
                    <a:pt x="3714750" y="0"/>
                  </a:lnTo>
                  <a:lnTo>
                    <a:pt x="3714750" y="2854800"/>
                  </a:lnTo>
                  <a:lnTo>
                    <a:pt x="0" y="2854800"/>
                  </a:lnTo>
                  <a:lnTo>
                    <a:pt x="0" y="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85344" tIns="85344" rIns="113792" bIns="128016" numCol="1" spcCol="1270" anchor="t" anchorCtr="0">
              <a:noAutofit/>
            </a:bodyPr>
            <a:lstStyle/>
            <a:p>
              <a:pPr marL="171446" lvl="1" indent="-171446" defTabSz="711182">
                <a:lnSpc>
                  <a:spcPct val="90000"/>
                </a:lnSpc>
                <a:spcBef>
                  <a:spcPct val="0"/>
                </a:spcBef>
                <a:spcAft>
                  <a:spcPct val="15000"/>
                </a:spcAft>
                <a:buChar char="•"/>
              </a:pPr>
              <a:r>
                <a:rPr lang="en-US" sz="1600">
                  <a:latin typeface="Arial" panose="020B0604020202020204" pitchFamily="34" charset="0"/>
                  <a:cs typeface="Arial" panose="020B0604020202020204" pitchFamily="34" charset="0"/>
                </a:rPr>
                <a:t> </a:t>
              </a:r>
              <a:r>
                <a:rPr lang="en-US" sz="1600" b="1">
                  <a:latin typeface="Arial" panose="020B0604020202020204" pitchFamily="34" charset="0"/>
                  <a:cs typeface="Arial" panose="020B0604020202020204" pitchFamily="34" charset="0"/>
                </a:rPr>
                <a:t>Product Profile:</a:t>
              </a:r>
              <a:r>
                <a:rPr lang="en-US" sz="1600">
                  <a:latin typeface="Arial" panose="020B0604020202020204" pitchFamily="34" charset="0"/>
                  <a:cs typeface="Arial" panose="020B0604020202020204" pitchFamily="34" charset="0"/>
                </a:rPr>
                <a:t> The focus is on gifts, decorations, and souvenirs with an affordable price point (most items are &lt; </a:t>
              </a:r>
              <a:r>
                <a:rPr lang="vi-VN" sz="1600"/>
                <a:t>£</a:t>
              </a:r>
              <a:r>
                <a:rPr lang="en-US" sz="1600">
                  <a:latin typeface="Arial" panose="020B0604020202020204" pitchFamily="34" charset="0"/>
                  <a:cs typeface="Arial" panose="020B0604020202020204" pitchFamily="34" charset="0"/>
                </a:rPr>
                <a:t>5). </a:t>
              </a:r>
            </a:p>
          </p:txBody>
        </p:sp>
        <p:sp>
          <p:nvSpPr>
            <p:cNvPr id="13" name="Freeform: Shape 12">
              <a:extLst>
                <a:ext uri="{FF2B5EF4-FFF2-40B4-BE49-F238E27FC236}">
                  <a16:creationId xmlns:a16="http://schemas.microsoft.com/office/drawing/2014/main" id="{CA257288-9EFA-496C-B20B-3D173831C412}"/>
                </a:ext>
              </a:extLst>
            </p:cNvPr>
            <p:cNvSpPr/>
            <p:nvPr/>
          </p:nvSpPr>
          <p:spPr>
            <a:xfrm>
              <a:off x="8310020" y="-53077"/>
              <a:ext cx="4041575" cy="744028"/>
            </a:xfrm>
            <a:custGeom>
              <a:avLst/>
              <a:gdLst>
                <a:gd name="connsiteX0" fmla="*/ 0 w 3714750"/>
                <a:gd name="connsiteY0" fmla="*/ 0 h 1485900"/>
                <a:gd name="connsiteX1" fmla="*/ 3714750 w 3714750"/>
                <a:gd name="connsiteY1" fmla="*/ 0 h 1485900"/>
                <a:gd name="connsiteX2" fmla="*/ 3714750 w 3714750"/>
                <a:gd name="connsiteY2" fmla="*/ 1485900 h 1485900"/>
                <a:gd name="connsiteX3" fmla="*/ 0 w 3714750"/>
                <a:gd name="connsiteY3" fmla="*/ 1485900 h 1485900"/>
                <a:gd name="connsiteX4" fmla="*/ 0 w 3714750"/>
                <a:gd name="connsiteY4" fmla="*/ 0 h 1485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0" h="1485900">
                  <a:moveTo>
                    <a:pt x="0" y="0"/>
                  </a:moveTo>
                  <a:lnTo>
                    <a:pt x="3714750" y="0"/>
                  </a:lnTo>
                  <a:lnTo>
                    <a:pt x="3714750" y="1485900"/>
                  </a:lnTo>
                  <a:lnTo>
                    <a:pt x="0" y="1485900"/>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0688" tIns="97536" rIns="170688" bIns="97536" numCol="1" spcCol="1270" anchor="ctr" anchorCtr="0">
              <a:noAutofit/>
            </a:bodyPr>
            <a:lstStyle/>
            <a:p>
              <a:pPr algn="ctr" defTabSz="1066773">
                <a:lnSpc>
                  <a:spcPct val="90000"/>
                </a:lnSpc>
                <a:spcBef>
                  <a:spcPct val="0"/>
                </a:spcBef>
                <a:spcAft>
                  <a:spcPct val="35000"/>
                </a:spcAft>
              </a:pPr>
              <a:r>
                <a:rPr lang="en-US" sz="2400">
                  <a:latin typeface="Arial" panose="020B0604020202020204" pitchFamily="34" charset="0"/>
                  <a:cs typeface="Arial" panose="020B0604020202020204" pitchFamily="34" charset="0"/>
                </a:rPr>
                <a:t>Customers</a:t>
              </a:r>
              <a:endParaRPr lang="vi-VN" sz="2400">
                <a:latin typeface="Arial" panose="020B0604020202020204" pitchFamily="34" charset="0"/>
                <a:cs typeface="Arial" panose="020B0604020202020204" pitchFamily="34" charset="0"/>
              </a:endParaRPr>
            </a:p>
          </p:txBody>
        </p:sp>
        <p:sp>
          <p:nvSpPr>
            <p:cNvPr id="14" name="Freeform: Shape 13">
              <a:extLst>
                <a:ext uri="{FF2B5EF4-FFF2-40B4-BE49-F238E27FC236}">
                  <a16:creationId xmlns:a16="http://schemas.microsoft.com/office/drawing/2014/main" id="{FCCFEF1C-A734-B06F-D65B-533895063CDB}"/>
                </a:ext>
              </a:extLst>
            </p:cNvPr>
            <p:cNvSpPr/>
            <p:nvPr/>
          </p:nvSpPr>
          <p:spPr>
            <a:xfrm>
              <a:off x="8310020" y="704319"/>
              <a:ext cx="4041575" cy="4027337"/>
            </a:xfrm>
            <a:custGeom>
              <a:avLst/>
              <a:gdLst>
                <a:gd name="connsiteX0" fmla="*/ 0 w 3714750"/>
                <a:gd name="connsiteY0" fmla="*/ 0 h 2854800"/>
                <a:gd name="connsiteX1" fmla="*/ 3714750 w 3714750"/>
                <a:gd name="connsiteY1" fmla="*/ 0 h 2854800"/>
                <a:gd name="connsiteX2" fmla="*/ 3714750 w 3714750"/>
                <a:gd name="connsiteY2" fmla="*/ 2854800 h 2854800"/>
                <a:gd name="connsiteX3" fmla="*/ 0 w 3714750"/>
                <a:gd name="connsiteY3" fmla="*/ 2854800 h 2854800"/>
                <a:gd name="connsiteX4" fmla="*/ 0 w 3714750"/>
                <a:gd name="connsiteY4" fmla="*/ 0 h 285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0" h="2854800">
                  <a:moveTo>
                    <a:pt x="0" y="0"/>
                  </a:moveTo>
                  <a:lnTo>
                    <a:pt x="3714750" y="0"/>
                  </a:lnTo>
                  <a:lnTo>
                    <a:pt x="3714750" y="2854800"/>
                  </a:lnTo>
                  <a:lnTo>
                    <a:pt x="0" y="2854800"/>
                  </a:lnTo>
                  <a:lnTo>
                    <a:pt x="0" y="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85344" tIns="85344" rIns="113792" bIns="128016" numCol="1" spcCol="1270" anchor="t" anchorCtr="0">
              <a:noAutofit/>
            </a:bodyPr>
            <a:lstStyle/>
            <a:p>
              <a:pPr marL="285750" lvl="0" indent="-285750" eaLnBrk="0" fontAlgn="base" hangingPunct="0">
                <a:spcBef>
                  <a:spcPct val="0"/>
                </a:spcBef>
                <a:spcAft>
                  <a:spcPct val="0"/>
                </a:spcAft>
                <a:buFont typeface="Arial" panose="020B0604020202020204" pitchFamily="34" charset="0"/>
                <a:buChar char="•"/>
              </a:pPr>
              <a:r>
                <a:rPr lang="en-US" sz="1400" b="1">
                  <a:latin typeface="Arial" panose="020B0604020202020204" pitchFamily="34" charset="0"/>
                  <a:cs typeface="Arial" panose="020B0604020202020204" pitchFamily="34" charset="0"/>
                </a:rPr>
                <a:t>GAP: </a:t>
              </a:r>
              <a:r>
                <a:rPr lang="vi-VN" altLang="vi-VN" sz="1400" b="1">
                  <a:solidFill>
                    <a:schemeClr val="tx1"/>
                  </a:solidFill>
                  <a:latin typeface="Arial" panose="020B0604020202020204" pitchFamily="34" charset="0"/>
                  <a:cs typeface="Arial" panose="020B0604020202020204" pitchFamily="34" charset="0"/>
                </a:rPr>
                <a:t>~75%</a:t>
              </a:r>
              <a:r>
                <a:rPr lang="vi-VN" altLang="vi-VN" sz="1400">
                  <a:solidFill>
                    <a:schemeClr val="tx1"/>
                  </a:solidFill>
                  <a:latin typeface="Arial" panose="020B0604020202020204" pitchFamily="34" charset="0"/>
                  <a:cs typeface="Arial" panose="020B0604020202020204" pitchFamily="34" charset="0"/>
                </a:rPr>
                <a:t> of transactions have CustomerID.</a:t>
              </a:r>
              <a:r>
                <a:rPr lang="en-US" altLang="vi-VN" sz="1400">
                  <a:solidFill>
                    <a:schemeClr val="tx1"/>
                  </a:solidFill>
                  <a:latin typeface="Arial" panose="020B0604020202020204" pitchFamily="34" charset="0"/>
                  <a:cs typeface="Arial" panose="020B0604020202020204" pitchFamily="34" charset="0"/>
                </a:rPr>
                <a:t> </a:t>
              </a:r>
              <a:r>
                <a:rPr lang="vi-VN" altLang="vi-VN" sz="1400" b="1">
                  <a:solidFill>
                    <a:schemeClr val="tx1"/>
                  </a:solidFill>
                  <a:latin typeface="Arial" panose="020B0604020202020204" pitchFamily="34" charset="0"/>
                  <a:cs typeface="Arial" panose="020B0604020202020204" pitchFamily="34" charset="0"/>
                </a:rPr>
                <a:t>~25%</a:t>
              </a:r>
              <a:r>
                <a:rPr lang="vi-VN" altLang="vi-VN" sz="1400">
                  <a:solidFill>
                    <a:schemeClr val="tx1"/>
                  </a:solidFill>
                  <a:latin typeface="Arial" panose="020B0604020202020204" pitchFamily="34" charset="0"/>
                  <a:cs typeface="Arial" panose="020B0604020202020204" pitchFamily="34" charset="0"/>
                </a:rPr>
                <a:t> missing → limits CLV and segmentation accuracy</a:t>
              </a:r>
            </a:p>
            <a:p>
              <a:pPr marL="285750" lvl="1" indent="-285750" defTabSz="711182">
                <a:lnSpc>
                  <a:spcPct val="90000"/>
                </a:lnSpc>
                <a:spcBef>
                  <a:spcPct val="0"/>
                </a:spcBef>
                <a:spcAft>
                  <a:spcPct val="15000"/>
                </a:spcAft>
                <a:buFont typeface="Arial" panose="020B0604020202020204" pitchFamily="34" charset="0"/>
                <a:buChar char="•"/>
              </a:pPr>
              <a:r>
                <a:rPr lang="en-US" sz="1400" b="1">
                  <a:latin typeface="Arial" panose="020B0604020202020204" pitchFamily="34" charset="0"/>
                  <a:cs typeface="Arial" panose="020B0604020202020204" pitchFamily="34" charset="0"/>
                </a:rPr>
                <a:t>Geographic Spread:</a:t>
              </a:r>
              <a:r>
                <a:rPr lang="en-US" sz="1400">
                  <a:latin typeface="Arial" panose="020B0604020202020204" pitchFamily="34" charset="0"/>
                  <a:cs typeface="Arial" panose="020B0604020202020204" pitchFamily="34" charset="0"/>
                </a:rPr>
                <a:t> Despite international presence, UK buyers = 85% of revenue</a:t>
              </a:r>
            </a:p>
            <a:p>
              <a:pPr marL="285750" indent="-285750">
                <a:buFont typeface="Arial" panose="020B0604020202020204" pitchFamily="34" charset="0"/>
                <a:buChar char="•"/>
              </a:pPr>
              <a:r>
                <a:rPr lang="en-US" sz="1400" b="1">
                  <a:latin typeface="Arial" panose="020B0604020202020204" pitchFamily="34" charset="0"/>
                  <a:cs typeface="Arial" panose="020B0604020202020204" pitchFamily="34" charset="0"/>
                </a:rPr>
                <a:t>SMEs as Dominant Revenue Drivers:</a:t>
              </a:r>
            </a:p>
            <a:p>
              <a:pPr marL="742950" lvl="1" indent="-285750">
                <a:buFont typeface="Arial" panose="020B0604020202020204" pitchFamily="34" charset="0"/>
                <a:buChar char="•"/>
              </a:pPr>
              <a:r>
                <a:rPr lang="en-US" sz="1400">
                  <a:latin typeface="Arial" panose="020B0604020202020204" pitchFamily="34" charset="0"/>
                  <a:cs typeface="Arial" panose="020B0604020202020204" pitchFamily="34" charset="0"/>
                </a:rPr>
                <a:t>Top </a:t>
              </a:r>
              <a:r>
                <a:rPr lang="en-US" sz="1400" b="1">
                  <a:latin typeface="Arial" panose="020B0604020202020204" pitchFamily="34" charset="0"/>
                  <a:cs typeface="Arial" panose="020B0604020202020204" pitchFamily="34" charset="0"/>
                </a:rPr>
                <a:t>27% </a:t>
              </a:r>
              <a:r>
                <a:rPr lang="en-US" sz="1400">
                  <a:latin typeface="Arial" panose="020B0604020202020204" pitchFamily="34" charset="0"/>
                  <a:cs typeface="Arial" panose="020B0604020202020204" pitchFamily="34" charset="0"/>
                </a:rPr>
                <a:t>customers contribute </a:t>
              </a:r>
              <a:r>
                <a:rPr lang="en-US" sz="1400" b="1">
                  <a:latin typeface="Arial" panose="020B0604020202020204" pitchFamily="34" charset="0"/>
                  <a:cs typeface="Arial" panose="020B0604020202020204" pitchFamily="34" charset="0"/>
                </a:rPr>
                <a:t>~81% </a:t>
              </a:r>
              <a:r>
                <a:rPr lang="en-US" sz="1400">
                  <a:latin typeface="Arial" panose="020B0604020202020204" pitchFamily="34" charset="0"/>
                  <a:cs typeface="Arial" panose="020B0604020202020204" pitchFamily="34" charset="0"/>
                </a:rPr>
                <a:t>of total revenue</a:t>
              </a:r>
            </a:p>
            <a:p>
              <a:pPr marL="742950" lvl="1" indent="-285750">
                <a:buFont typeface="Arial" panose="020B0604020202020204" pitchFamily="34" charset="0"/>
                <a:buChar char="•"/>
              </a:pPr>
              <a:r>
                <a:rPr lang="en-US" sz="1400">
                  <a:latin typeface="Arial" panose="020B0604020202020204" pitchFamily="34" charset="0"/>
                  <a:cs typeface="Arial" panose="020B0604020202020204" pitchFamily="34" charset="0"/>
                </a:rPr>
                <a:t>SMEs show higher Frequency, Monetary value, and AOV</a:t>
              </a:r>
            </a:p>
            <a:p>
              <a:pPr marL="742950" lvl="1" indent="-285750">
                <a:buFont typeface="Arial" panose="020B0604020202020204" pitchFamily="34" charset="0"/>
                <a:buChar char="•"/>
              </a:pPr>
              <a:r>
                <a:rPr lang="en-US" sz="1400" b="1">
                  <a:latin typeface="Arial" panose="020B0604020202020204" pitchFamily="34" charset="0"/>
                  <a:cs typeface="Arial" panose="020B0604020202020204" pitchFamily="34" charset="0"/>
                </a:rPr>
                <a:t>Month-1</a:t>
              </a:r>
              <a:r>
                <a:rPr lang="en-US" sz="1400">
                  <a:latin typeface="Arial" panose="020B0604020202020204" pitchFamily="34" charset="0"/>
                  <a:cs typeface="Arial" panose="020B0604020202020204" pitchFamily="34" charset="0"/>
                </a:rPr>
                <a:t> retention for SMEs </a:t>
              </a:r>
              <a:r>
                <a:rPr lang="en-US" sz="1400" b="1">
                  <a:latin typeface="Arial" panose="020B0604020202020204" pitchFamily="34" charset="0"/>
                  <a:cs typeface="Arial" panose="020B0604020202020204" pitchFamily="34" charset="0"/>
                </a:rPr>
                <a:t>~45%, </a:t>
              </a:r>
              <a:r>
                <a:rPr lang="en-US" sz="1400">
                  <a:latin typeface="Arial" panose="020B0604020202020204" pitchFamily="34" charset="0"/>
                  <a:cs typeface="Arial" panose="020B0604020202020204" pitchFamily="34" charset="0"/>
                </a:rPr>
                <a:t>higher than individual buyers</a:t>
              </a:r>
            </a:p>
          </p:txBody>
        </p:sp>
      </p:grpSp>
      <p:graphicFrame>
        <p:nvGraphicFramePr>
          <p:cNvPr id="4" name="Table 3">
            <a:extLst>
              <a:ext uri="{FF2B5EF4-FFF2-40B4-BE49-F238E27FC236}">
                <a16:creationId xmlns:a16="http://schemas.microsoft.com/office/drawing/2014/main" id="{B2BE3B40-876D-1AD4-E82D-E2B32AE74819}"/>
              </a:ext>
            </a:extLst>
          </p:cNvPr>
          <p:cNvGraphicFramePr>
            <a:graphicFrameLocks noGrp="1"/>
          </p:cNvGraphicFramePr>
          <p:nvPr>
            <p:extLst>
              <p:ext uri="{D42A27DB-BD31-4B8C-83A1-F6EECF244321}">
                <p14:modId xmlns:p14="http://schemas.microsoft.com/office/powerpoint/2010/main" val="1997094127"/>
              </p:ext>
            </p:extLst>
          </p:nvPr>
        </p:nvGraphicFramePr>
        <p:xfrm>
          <a:off x="4265940" y="1641212"/>
          <a:ext cx="3660117" cy="1787788"/>
        </p:xfrm>
        <a:graphic>
          <a:graphicData uri="http://schemas.openxmlformats.org/drawingml/2006/table">
            <a:tbl>
              <a:tblPr>
                <a:tableStyleId>{5C22544A-7EE6-4342-B048-85BDC9FD1C3A}</a:tableStyleId>
              </a:tblPr>
              <a:tblGrid>
                <a:gridCol w="1292221">
                  <a:extLst>
                    <a:ext uri="{9D8B030D-6E8A-4147-A177-3AD203B41FA5}">
                      <a16:colId xmlns:a16="http://schemas.microsoft.com/office/drawing/2014/main" val="798367252"/>
                    </a:ext>
                  </a:extLst>
                </a:gridCol>
                <a:gridCol w="1147857">
                  <a:extLst>
                    <a:ext uri="{9D8B030D-6E8A-4147-A177-3AD203B41FA5}">
                      <a16:colId xmlns:a16="http://schemas.microsoft.com/office/drawing/2014/main" val="3603621498"/>
                    </a:ext>
                  </a:extLst>
                </a:gridCol>
                <a:gridCol w="1220039">
                  <a:extLst>
                    <a:ext uri="{9D8B030D-6E8A-4147-A177-3AD203B41FA5}">
                      <a16:colId xmlns:a16="http://schemas.microsoft.com/office/drawing/2014/main" val="3124306048"/>
                    </a:ext>
                  </a:extLst>
                </a:gridCol>
              </a:tblGrid>
              <a:tr h="446947">
                <a:tc>
                  <a:txBody>
                    <a:bodyPr/>
                    <a:lstStyle/>
                    <a:p>
                      <a:pPr algn="ctr" fontAlgn="ctr">
                        <a:buNone/>
                      </a:pPr>
                      <a:r>
                        <a:rPr lang="vi-VN" sz="1200" b="1" u="none" strike="noStrike">
                          <a:effectLst/>
                        </a:rPr>
                        <a:t>Category</a:t>
                      </a:r>
                      <a:endParaRPr lang="vi-VN" sz="1200" b="1"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buNone/>
                      </a:pPr>
                      <a:r>
                        <a:rPr lang="vi-VN" sz="1200" b="1" u="none" strike="noStrike">
                          <a:effectLst/>
                        </a:rPr>
                        <a:t>Revenue </a:t>
                      </a:r>
                      <a:endParaRPr lang="vi-VN" sz="1200" b="1"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buNone/>
                      </a:pPr>
                      <a:r>
                        <a:rPr lang="vi-VN" sz="1200" b="1" u="none" strike="noStrike">
                          <a:effectLst/>
                        </a:rPr>
                        <a:t>% Total Revenue</a:t>
                      </a:r>
                      <a:endParaRPr lang="vi-VN" sz="1200" b="1" i="0" u="none" strike="noStrike">
                        <a:solidFill>
                          <a:srgbClr val="000000"/>
                        </a:solidFill>
                        <a:effectLst/>
                        <a:latin typeface="Arial" panose="020B0604020202020204" pitchFamily="34" charset="0"/>
                      </a:endParaRPr>
                    </a:p>
                  </a:txBody>
                  <a:tcPr marL="9525" marR="9525" marT="9525" marB="0" anchor="ctr"/>
                </a:tc>
                <a:extLst>
                  <a:ext uri="{0D108BD9-81ED-4DB2-BD59-A6C34878D82A}">
                    <a16:rowId xmlns:a16="http://schemas.microsoft.com/office/drawing/2014/main" val="1365584042"/>
                  </a:ext>
                </a:extLst>
              </a:tr>
              <a:tr h="446947">
                <a:tc>
                  <a:txBody>
                    <a:bodyPr/>
                    <a:lstStyle/>
                    <a:p>
                      <a:pPr algn="ctr" fontAlgn="ctr">
                        <a:buNone/>
                      </a:pPr>
                      <a:r>
                        <a:rPr lang="vi-VN" sz="1200" u="none" strike="noStrike">
                          <a:effectLst/>
                        </a:rPr>
                        <a:t>Decorations &amp; Gifts</a:t>
                      </a:r>
                      <a:endParaRPr lang="vi-VN" sz="12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buNone/>
                      </a:pPr>
                      <a:r>
                        <a:rPr lang="vi-VN" sz="1200"/>
                        <a:t>£</a:t>
                      </a:r>
                      <a:r>
                        <a:rPr lang="vi-VN" sz="1200" u="none" strike="noStrike">
                          <a:effectLst/>
                        </a:rPr>
                        <a:t>1,649,446</a:t>
                      </a:r>
                      <a:endParaRPr lang="vi-VN" sz="12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buNone/>
                      </a:pPr>
                      <a:r>
                        <a:rPr lang="vi-VN" sz="1200" u="none" strike="noStrike">
                          <a:effectLst/>
                        </a:rPr>
                        <a:t>~ 19</a:t>
                      </a:r>
                      <a:r>
                        <a:rPr lang="en-US" sz="1200" u="none" strike="noStrike">
                          <a:effectLst/>
                        </a:rPr>
                        <a:t>%</a:t>
                      </a:r>
                      <a:endParaRPr lang="vi-VN" sz="1200" b="0" i="0" u="none" strike="noStrike">
                        <a:solidFill>
                          <a:srgbClr val="000000"/>
                        </a:solidFill>
                        <a:effectLst/>
                        <a:latin typeface="Arial" panose="020B0604020202020204" pitchFamily="34" charset="0"/>
                      </a:endParaRPr>
                    </a:p>
                  </a:txBody>
                  <a:tcPr marL="9525" marR="9525" marT="9525" marB="0" anchor="ctr"/>
                </a:tc>
                <a:extLst>
                  <a:ext uri="{0D108BD9-81ED-4DB2-BD59-A6C34878D82A}">
                    <a16:rowId xmlns:a16="http://schemas.microsoft.com/office/drawing/2014/main" val="3870990277"/>
                  </a:ext>
                </a:extLst>
              </a:tr>
              <a:tr h="446947">
                <a:tc>
                  <a:txBody>
                    <a:bodyPr/>
                    <a:lstStyle/>
                    <a:p>
                      <a:pPr algn="ctr" fontAlgn="ctr">
                        <a:buNone/>
                      </a:pPr>
                      <a:r>
                        <a:rPr lang="vi-VN" sz="1200" u="none" strike="noStrike">
                          <a:effectLst/>
                        </a:rPr>
                        <a:t>Bags &amp; Accessories</a:t>
                      </a:r>
                      <a:endParaRPr lang="vi-VN" sz="12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buNone/>
                      </a:pPr>
                      <a:r>
                        <a:rPr lang="vi-VN" sz="1200"/>
                        <a:t>£</a:t>
                      </a:r>
                      <a:r>
                        <a:rPr lang="vi-VN" sz="1200" u="none" strike="noStrike">
                          <a:effectLst/>
                        </a:rPr>
                        <a:t>964,365</a:t>
                      </a:r>
                      <a:endParaRPr lang="vi-VN" sz="12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buNone/>
                      </a:pPr>
                      <a:r>
                        <a:rPr lang="vi-VN" sz="1200" u="none" strike="noStrike">
                          <a:effectLst/>
                        </a:rPr>
                        <a:t>~ 11</a:t>
                      </a:r>
                      <a:r>
                        <a:rPr lang="en-US" sz="1200" u="none" strike="noStrike">
                          <a:effectLst/>
                        </a:rPr>
                        <a:t>%</a:t>
                      </a:r>
                      <a:endParaRPr lang="vi-VN" sz="1200" b="0" i="0" u="none" strike="noStrike">
                        <a:solidFill>
                          <a:srgbClr val="000000"/>
                        </a:solidFill>
                        <a:effectLst/>
                        <a:latin typeface="Arial" panose="020B0604020202020204" pitchFamily="34" charset="0"/>
                      </a:endParaRPr>
                    </a:p>
                  </a:txBody>
                  <a:tcPr marL="9525" marR="9525" marT="9525" marB="0" anchor="ctr"/>
                </a:tc>
                <a:extLst>
                  <a:ext uri="{0D108BD9-81ED-4DB2-BD59-A6C34878D82A}">
                    <a16:rowId xmlns:a16="http://schemas.microsoft.com/office/drawing/2014/main" val="1996686238"/>
                  </a:ext>
                </a:extLst>
              </a:tr>
              <a:tr h="446947">
                <a:tc>
                  <a:txBody>
                    <a:bodyPr/>
                    <a:lstStyle/>
                    <a:p>
                      <a:pPr algn="ctr" fontAlgn="ctr">
                        <a:buNone/>
                      </a:pPr>
                      <a:r>
                        <a:rPr lang="vi-VN" sz="1200" u="none" strike="noStrike">
                          <a:effectLst/>
                        </a:rPr>
                        <a:t>Homeware &amp; Kitchen</a:t>
                      </a:r>
                      <a:endParaRPr lang="vi-VN" sz="12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buNone/>
                      </a:pPr>
                      <a:r>
                        <a:rPr lang="vi-VN" sz="1200"/>
                        <a:t>£</a:t>
                      </a:r>
                      <a:r>
                        <a:rPr lang="vi-VN" sz="1200" u="none" strike="noStrike">
                          <a:effectLst/>
                        </a:rPr>
                        <a:t>870,128</a:t>
                      </a:r>
                      <a:endParaRPr lang="vi-VN" sz="12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buNone/>
                      </a:pPr>
                      <a:r>
                        <a:rPr lang="vi-VN" sz="1200" u="none" strike="noStrike">
                          <a:effectLst/>
                        </a:rPr>
                        <a:t>~ 10</a:t>
                      </a:r>
                      <a:r>
                        <a:rPr lang="en-US" sz="1200" u="none" strike="noStrike">
                          <a:effectLst/>
                        </a:rPr>
                        <a:t>%</a:t>
                      </a:r>
                      <a:endParaRPr lang="vi-VN" sz="1200" b="0" i="0" u="none" strike="noStrike">
                        <a:solidFill>
                          <a:srgbClr val="000000"/>
                        </a:solidFill>
                        <a:effectLst/>
                        <a:latin typeface="Arial" panose="020B0604020202020204" pitchFamily="34" charset="0"/>
                      </a:endParaRPr>
                    </a:p>
                  </a:txBody>
                  <a:tcPr marL="9525" marR="9525" marT="9525" marB="0" anchor="ctr"/>
                </a:tc>
                <a:extLst>
                  <a:ext uri="{0D108BD9-81ED-4DB2-BD59-A6C34878D82A}">
                    <a16:rowId xmlns:a16="http://schemas.microsoft.com/office/drawing/2014/main" val="933969742"/>
                  </a:ext>
                </a:extLst>
              </a:tr>
            </a:tbl>
          </a:graphicData>
        </a:graphic>
      </p:graphicFrame>
      <p:sp>
        <p:nvSpPr>
          <p:cNvPr id="5" name="Freeform: Shape 4">
            <a:extLst>
              <a:ext uri="{FF2B5EF4-FFF2-40B4-BE49-F238E27FC236}">
                <a16:creationId xmlns:a16="http://schemas.microsoft.com/office/drawing/2014/main" id="{74F68C8B-0449-6318-3E32-BAC063C71F69}"/>
              </a:ext>
            </a:extLst>
          </p:cNvPr>
          <p:cNvSpPr/>
          <p:nvPr/>
        </p:nvSpPr>
        <p:spPr>
          <a:xfrm>
            <a:off x="0" y="3810000"/>
            <a:ext cx="12192000" cy="564801"/>
          </a:xfrm>
          <a:custGeom>
            <a:avLst/>
            <a:gdLst>
              <a:gd name="connsiteX0" fmla="*/ 0 w 3714750"/>
              <a:gd name="connsiteY0" fmla="*/ 0 h 1485900"/>
              <a:gd name="connsiteX1" fmla="*/ 3714750 w 3714750"/>
              <a:gd name="connsiteY1" fmla="*/ 0 h 1485900"/>
              <a:gd name="connsiteX2" fmla="*/ 3714750 w 3714750"/>
              <a:gd name="connsiteY2" fmla="*/ 1485900 h 1485900"/>
              <a:gd name="connsiteX3" fmla="*/ 0 w 3714750"/>
              <a:gd name="connsiteY3" fmla="*/ 1485900 h 1485900"/>
              <a:gd name="connsiteX4" fmla="*/ 0 w 3714750"/>
              <a:gd name="connsiteY4" fmla="*/ 0 h 1485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0" h="1485900">
                <a:moveTo>
                  <a:pt x="0" y="0"/>
                </a:moveTo>
                <a:lnTo>
                  <a:pt x="3714750" y="0"/>
                </a:lnTo>
                <a:lnTo>
                  <a:pt x="3714750" y="1485900"/>
                </a:lnTo>
                <a:lnTo>
                  <a:pt x="0" y="1485900"/>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0688" tIns="97536" rIns="170688" bIns="97536" numCol="1" spcCol="1270" anchor="ctr" anchorCtr="0">
            <a:noAutofit/>
          </a:bodyPr>
          <a:lstStyle/>
          <a:p>
            <a:pPr algn="ctr" defTabSz="1066773">
              <a:lnSpc>
                <a:spcPct val="90000"/>
              </a:lnSpc>
              <a:spcBef>
                <a:spcPct val="0"/>
              </a:spcBef>
              <a:spcAft>
                <a:spcPct val="35000"/>
              </a:spcAft>
            </a:pPr>
            <a:r>
              <a:rPr lang="vi-VN" sz="2400">
                <a:latin typeface="Arial" panose="020B0604020202020204" pitchFamily="34" charset="0"/>
                <a:cs typeface="Arial" panose="020B0604020202020204" pitchFamily="34" charset="0"/>
              </a:rPr>
              <a:t>Conclusions &amp; Strategic Issues</a:t>
            </a:r>
          </a:p>
        </p:txBody>
      </p:sp>
      <p:sp>
        <p:nvSpPr>
          <p:cNvPr id="6" name="Freeform: Shape 5">
            <a:extLst>
              <a:ext uri="{FF2B5EF4-FFF2-40B4-BE49-F238E27FC236}">
                <a16:creationId xmlns:a16="http://schemas.microsoft.com/office/drawing/2014/main" id="{27EC2E6F-9572-B294-D952-986CCBE7F91A}"/>
              </a:ext>
            </a:extLst>
          </p:cNvPr>
          <p:cNvSpPr/>
          <p:nvPr/>
        </p:nvSpPr>
        <p:spPr>
          <a:xfrm>
            <a:off x="0" y="4368848"/>
            <a:ext cx="12192000" cy="2489151"/>
          </a:xfrm>
          <a:custGeom>
            <a:avLst/>
            <a:gdLst>
              <a:gd name="connsiteX0" fmla="*/ 0 w 3714750"/>
              <a:gd name="connsiteY0" fmla="*/ 0 h 2854800"/>
              <a:gd name="connsiteX1" fmla="*/ 3714750 w 3714750"/>
              <a:gd name="connsiteY1" fmla="*/ 0 h 2854800"/>
              <a:gd name="connsiteX2" fmla="*/ 3714750 w 3714750"/>
              <a:gd name="connsiteY2" fmla="*/ 2854800 h 2854800"/>
              <a:gd name="connsiteX3" fmla="*/ 0 w 3714750"/>
              <a:gd name="connsiteY3" fmla="*/ 2854800 h 2854800"/>
              <a:gd name="connsiteX4" fmla="*/ 0 w 3714750"/>
              <a:gd name="connsiteY4" fmla="*/ 0 h 285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0" h="2854800">
                <a:moveTo>
                  <a:pt x="0" y="0"/>
                </a:moveTo>
                <a:lnTo>
                  <a:pt x="3714750" y="0"/>
                </a:lnTo>
                <a:lnTo>
                  <a:pt x="3714750" y="2854800"/>
                </a:lnTo>
                <a:lnTo>
                  <a:pt x="0" y="2854800"/>
                </a:lnTo>
                <a:lnTo>
                  <a:pt x="0" y="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85344" tIns="85344" rIns="113792" bIns="128016" numCol="1" spcCol="1270" anchor="t" anchorCtr="0">
            <a:noAutofit/>
          </a:bodyPr>
          <a:lstStyle/>
          <a:p>
            <a:pPr lvl="0" eaLnBrk="0" fontAlgn="base" hangingPunct="0">
              <a:spcBef>
                <a:spcPct val="0"/>
              </a:spcBef>
              <a:spcAft>
                <a:spcPct val="0"/>
              </a:spcAft>
            </a:pPr>
            <a:r>
              <a:rPr lang="vi-VN" altLang="vi-VN" b="1">
                <a:solidFill>
                  <a:schemeClr val="tx1"/>
                </a:solidFill>
                <a:latin typeface="Arial" panose="020B0604020202020204" pitchFamily="34" charset="0"/>
                <a:cs typeface="Arial" panose="020B0604020202020204" pitchFamily="34" charset="0"/>
              </a:rPr>
              <a:t>⚠️ Seasonality Risk:</a:t>
            </a:r>
            <a:endParaRPr lang="vi-VN" altLang="vi-VN">
              <a:solidFill>
                <a:schemeClr val="tx1"/>
              </a:solidFill>
              <a:latin typeface="Arial" panose="020B0604020202020204" pitchFamily="34" charset="0"/>
              <a:cs typeface="Arial" panose="020B0604020202020204" pitchFamily="34" charset="0"/>
            </a:endParaRPr>
          </a:p>
          <a:p>
            <a:pPr lvl="0" eaLnBrk="0" fontAlgn="base" hangingPunct="0">
              <a:spcBef>
                <a:spcPct val="0"/>
              </a:spcBef>
              <a:spcAft>
                <a:spcPct val="0"/>
              </a:spcAft>
              <a:buFontTx/>
              <a:buChar char="•"/>
            </a:pPr>
            <a:r>
              <a:rPr lang="vi-VN" altLang="vi-VN">
                <a:solidFill>
                  <a:schemeClr val="tx1"/>
                </a:solidFill>
                <a:latin typeface="Arial" panose="020B0604020202020204" pitchFamily="34" charset="0"/>
                <a:cs typeface="Arial" panose="020B0604020202020204" pitchFamily="34" charset="0"/>
              </a:rPr>
              <a:t>An over-reliance on Q4 revenue. A strategy is needed to mitigate this risk and boost sales in other quarters.</a:t>
            </a:r>
            <a:endParaRPr lang="en-US" altLang="vi-VN">
              <a:solidFill>
                <a:schemeClr val="tx1"/>
              </a:solidFill>
              <a:latin typeface="Arial" panose="020B0604020202020204" pitchFamily="34" charset="0"/>
              <a:cs typeface="Arial" panose="020B0604020202020204" pitchFamily="34" charset="0"/>
            </a:endParaRPr>
          </a:p>
          <a:p>
            <a:pPr lvl="0" eaLnBrk="0" fontAlgn="base" hangingPunct="0">
              <a:spcBef>
                <a:spcPct val="0"/>
              </a:spcBef>
              <a:spcAft>
                <a:spcPct val="0"/>
              </a:spcAft>
              <a:buFontTx/>
              <a:buChar char="•"/>
            </a:pPr>
            <a:endParaRPr lang="vi-VN" altLang="vi-VN">
              <a:solidFill>
                <a:schemeClr val="tx1"/>
              </a:solidFill>
              <a:latin typeface="Arial" panose="020B0604020202020204" pitchFamily="34" charset="0"/>
              <a:cs typeface="Arial" panose="020B0604020202020204" pitchFamily="34" charset="0"/>
            </a:endParaRPr>
          </a:p>
          <a:p>
            <a:pPr lvl="0" eaLnBrk="0" fontAlgn="base" hangingPunct="0">
              <a:spcBef>
                <a:spcPct val="0"/>
              </a:spcBef>
              <a:spcAft>
                <a:spcPct val="0"/>
              </a:spcAft>
            </a:pPr>
            <a:r>
              <a:rPr lang="vi-VN" altLang="vi-VN" b="1">
                <a:solidFill>
                  <a:schemeClr val="tx1"/>
                </a:solidFill>
                <a:latin typeface="Arial" panose="020B0604020202020204" pitchFamily="34" charset="0"/>
                <a:cs typeface="Arial" panose="020B0604020202020204" pitchFamily="34" charset="0"/>
              </a:rPr>
              <a:t>🎯 SMEs as Key Revenue Drivers:</a:t>
            </a:r>
            <a:endParaRPr lang="vi-VN" altLang="vi-VN">
              <a:solidFill>
                <a:schemeClr val="tx1"/>
              </a:solidFill>
              <a:latin typeface="Arial" panose="020B0604020202020204" pitchFamily="34" charset="0"/>
              <a:cs typeface="Arial" panose="020B0604020202020204" pitchFamily="34" charset="0"/>
            </a:endParaRPr>
          </a:p>
          <a:p>
            <a:pPr lvl="0" eaLnBrk="0" fontAlgn="base" hangingPunct="0">
              <a:spcBef>
                <a:spcPct val="0"/>
              </a:spcBef>
              <a:spcAft>
                <a:spcPct val="0"/>
              </a:spcAft>
              <a:buFontTx/>
              <a:buChar char="•"/>
            </a:pPr>
            <a:r>
              <a:rPr lang="vi-VN" altLang="vi-VN">
                <a:solidFill>
                  <a:schemeClr val="tx1"/>
                </a:solidFill>
                <a:latin typeface="Arial" panose="020B0604020202020204" pitchFamily="34" charset="0"/>
                <a:cs typeface="Arial" panose="020B0604020202020204" pitchFamily="34" charset="0"/>
              </a:rPr>
              <a:t>This customer segment provides the most value. Retention and growth strategies for SMEs should be the top priority.</a:t>
            </a:r>
            <a:endParaRPr lang="en-US" altLang="vi-VN">
              <a:solidFill>
                <a:schemeClr val="tx1"/>
              </a:solidFill>
              <a:latin typeface="Arial" panose="020B0604020202020204" pitchFamily="34" charset="0"/>
              <a:cs typeface="Arial" panose="020B0604020202020204" pitchFamily="34" charset="0"/>
            </a:endParaRPr>
          </a:p>
          <a:p>
            <a:pPr lvl="0" eaLnBrk="0" fontAlgn="base" hangingPunct="0">
              <a:spcBef>
                <a:spcPct val="0"/>
              </a:spcBef>
              <a:spcAft>
                <a:spcPct val="0"/>
              </a:spcAft>
              <a:buFontTx/>
              <a:buChar char="•"/>
            </a:pPr>
            <a:endParaRPr lang="vi-VN" altLang="vi-VN">
              <a:solidFill>
                <a:schemeClr val="tx1"/>
              </a:solidFill>
              <a:latin typeface="Arial" panose="020B0604020202020204" pitchFamily="34" charset="0"/>
              <a:cs typeface="Arial" panose="020B0604020202020204" pitchFamily="34" charset="0"/>
            </a:endParaRPr>
          </a:p>
          <a:p>
            <a:pPr lvl="0" eaLnBrk="0" fontAlgn="base" hangingPunct="0">
              <a:spcBef>
                <a:spcPct val="0"/>
              </a:spcBef>
              <a:spcAft>
                <a:spcPct val="0"/>
              </a:spcAft>
            </a:pPr>
            <a:r>
              <a:rPr lang="vi-VN" altLang="vi-VN" b="1">
                <a:solidFill>
                  <a:schemeClr val="tx1"/>
                </a:solidFill>
                <a:latin typeface="Arial" panose="020B0604020202020204" pitchFamily="34" charset="0"/>
                <a:cs typeface="Arial" panose="020B0604020202020204" pitchFamily="34" charset="0"/>
              </a:rPr>
              <a:t>❓ Customer Identification Gap:</a:t>
            </a:r>
            <a:endParaRPr lang="vi-VN" altLang="vi-VN">
              <a:solidFill>
                <a:schemeClr val="tx1"/>
              </a:solidFill>
              <a:latin typeface="Arial" panose="020B0604020202020204" pitchFamily="34" charset="0"/>
              <a:cs typeface="Arial" panose="020B0604020202020204" pitchFamily="34" charset="0"/>
            </a:endParaRPr>
          </a:p>
          <a:p>
            <a:pPr lvl="0" eaLnBrk="0" fontAlgn="base" hangingPunct="0">
              <a:spcBef>
                <a:spcPct val="0"/>
              </a:spcBef>
              <a:spcAft>
                <a:spcPct val="0"/>
              </a:spcAft>
              <a:buFontTx/>
              <a:buChar char="•"/>
            </a:pPr>
            <a:r>
              <a:rPr lang="vi-VN" altLang="vi-VN">
                <a:solidFill>
                  <a:schemeClr val="tx1"/>
                </a:solidFill>
                <a:latin typeface="Arial" panose="020B0604020202020204" pitchFamily="34" charset="0"/>
                <a:cs typeface="Arial" panose="020B0604020202020204" pitchFamily="34" charset="0"/>
              </a:rPr>
              <a:t>The lack of customer information hinders personalized marketing strategies and loyalty programs.</a:t>
            </a:r>
          </a:p>
          <a:p>
            <a:pPr lvl="0" eaLnBrk="0" fontAlgn="base" hangingPunct="0">
              <a:spcBef>
                <a:spcPct val="0"/>
              </a:spcBef>
              <a:spcAft>
                <a:spcPct val="0"/>
              </a:spcAft>
            </a:pPr>
            <a:endParaRPr lang="vi-VN" altLang="vi-VN">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169630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46AD81B9-5374-B284-33BD-34C1D7FC8A5E}"/>
              </a:ext>
            </a:extLst>
          </p:cNvPr>
          <p:cNvSpPr/>
          <p:nvPr/>
        </p:nvSpPr>
        <p:spPr>
          <a:xfrm>
            <a:off x="0" y="0"/>
            <a:ext cx="2260030" cy="1063172"/>
          </a:xfrm>
          <a:custGeom>
            <a:avLst/>
            <a:gdLst>
              <a:gd name="connsiteX0" fmla="*/ 0 w 3714750"/>
              <a:gd name="connsiteY0" fmla="*/ 0 h 1485900"/>
              <a:gd name="connsiteX1" fmla="*/ 3714750 w 3714750"/>
              <a:gd name="connsiteY1" fmla="*/ 0 h 1485900"/>
              <a:gd name="connsiteX2" fmla="*/ 3714750 w 3714750"/>
              <a:gd name="connsiteY2" fmla="*/ 1485900 h 1485900"/>
              <a:gd name="connsiteX3" fmla="*/ 0 w 3714750"/>
              <a:gd name="connsiteY3" fmla="*/ 1485900 h 1485900"/>
              <a:gd name="connsiteX4" fmla="*/ 0 w 3714750"/>
              <a:gd name="connsiteY4" fmla="*/ 0 h 1485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0" h="1485900">
                <a:moveTo>
                  <a:pt x="0" y="0"/>
                </a:moveTo>
                <a:lnTo>
                  <a:pt x="3714750" y="0"/>
                </a:lnTo>
                <a:lnTo>
                  <a:pt x="3714750" y="1485900"/>
                </a:lnTo>
                <a:lnTo>
                  <a:pt x="0" y="1485900"/>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0688" tIns="97536" rIns="170688" bIns="97536" numCol="1" spcCol="1270" anchor="ctr" anchorCtr="0">
            <a:noAutofit/>
          </a:bodyPr>
          <a:lstStyle/>
          <a:p>
            <a:pPr defTabSz="1066773">
              <a:lnSpc>
                <a:spcPct val="90000"/>
              </a:lnSpc>
              <a:spcBef>
                <a:spcPct val="0"/>
              </a:spcBef>
              <a:spcAft>
                <a:spcPct val="35000"/>
              </a:spcAft>
            </a:pPr>
            <a:r>
              <a:rPr lang="en-US" sz="1600" b="1">
                <a:latin typeface="Arial" panose="020B0604020202020204" pitchFamily="34" charset="0"/>
                <a:cs typeface="Arial" panose="020B0604020202020204" pitchFamily="34" charset="0"/>
              </a:rPr>
              <a:t>PROJECT: </a:t>
            </a:r>
            <a:r>
              <a:rPr lang="vi-VN" sz="1600">
                <a:latin typeface="Arial" panose="020B0604020202020204" pitchFamily="34" charset="0"/>
                <a:cs typeface="Arial" panose="020B0604020202020204" pitchFamily="34" charset="0"/>
              </a:rPr>
              <a:t>Customer-Centric Growth Plan</a:t>
            </a:r>
          </a:p>
        </p:txBody>
      </p:sp>
      <p:sp>
        <p:nvSpPr>
          <p:cNvPr id="5" name="Freeform: Shape 4">
            <a:extLst>
              <a:ext uri="{FF2B5EF4-FFF2-40B4-BE49-F238E27FC236}">
                <a16:creationId xmlns:a16="http://schemas.microsoft.com/office/drawing/2014/main" id="{E1429EC6-8E2B-FD4E-3C03-63CA9E6B0C28}"/>
              </a:ext>
            </a:extLst>
          </p:cNvPr>
          <p:cNvSpPr/>
          <p:nvPr/>
        </p:nvSpPr>
        <p:spPr>
          <a:xfrm>
            <a:off x="0" y="1143061"/>
            <a:ext cx="2260030" cy="2461986"/>
          </a:xfrm>
          <a:custGeom>
            <a:avLst/>
            <a:gdLst>
              <a:gd name="connsiteX0" fmla="*/ 0 w 3714750"/>
              <a:gd name="connsiteY0" fmla="*/ 0 h 1485900"/>
              <a:gd name="connsiteX1" fmla="*/ 3714750 w 3714750"/>
              <a:gd name="connsiteY1" fmla="*/ 0 h 1485900"/>
              <a:gd name="connsiteX2" fmla="*/ 3714750 w 3714750"/>
              <a:gd name="connsiteY2" fmla="*/ 1485900 h 1485900"/>
              <a:gd name="connsiteX3" fmla="*/ 0 w 3714750"/>
              <a:gd name="connsiteY3" fmla="*/ 1485900 h 1485900"/>
              <a:gd name="connsiteX4" fmla="*/ 0 w 3714750"/>
              <a:gd name="connsiteY4" fmla="*/ 0 h 1485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0" h="1485900">
                <a:moveTo>
                  <a:pt x="0" y="0"/>
                </a:moveTo>
                <a:lnTo>
                  <a:pt x="3714750" y="0"/>
                </a:lnTo>
                <a:lnTo>
                  <a:pt x="3714750" y="1485900"/>
                </a:lnTo>
                <a:lnTo>
                  <a:pt x="0" y="1485900"/>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0688" tIns="97536" rIns="170688" bIns="97536" numCol="1" spcCol="1270" anchor="ctr" anchorCtr="0">
            <a:noAutofit/>
          </a:bodyPr>
          <a:lstStyle/>
          <a:p>
            <a:pPr defTabSz="1066773">
              <a:lnSpc>
                <a:spcPct val="90000"/>
              </a:lnSpc>
              <a:spcBef>
                <a:spcPct val="0"/>
              </a:spcBef>
              <a:spcAft>
                <a:spcPct val="35000"/>
              </a:spcAft>
            </a:pPr>
            <a:r>
              <a:rPr lang="en-US" sz="1400" b="1">
                <a:latin typeface="Arial" panose="020B0604020202020204" pitchFamily="34" charset="0"/>
                <a:cs typeface="Arial" panose="020B0604020202020204" pitchFamily="34" charset="0"/>
              </a:rPr>
              <a:t>GOALS: </a:t>
            </a:r>
          </a:p>
          <a:p>
            <a:pPr marL="174625" lvl="1" indent="-171450" fontAlgn="ctr">
              <a:buFont typeface="Wingdings" panose="05000000000000000000" pitchFamily="2" charset="2"/>
              <a:buChar char="§"/>
            </a:pPr>
            <a:r>
              <a:rPr lang="vi-VN" sz="1400">
                <a:latin typeface="Arial" panose="020B0604020202020204" pitchFamily="34" charset="0"/>
                <a:cs typeface="Arial" panose="020B0604020202020204" pitchFamily="34" charset="0"/>
              </a:rPr>
              <a:t>Increase non-Q4 revenue by </a:t>
            </a:r>
            <a:r>
              <a:rPr lang="vi-VN" sz="1400" b="1">
                <a:latin typeface="Arial" panose="020B0604020202020204" pitchFamily="34" charset="0"/>
                <a:cs typeface="Arial" panose="020B0604020202020204" pitchFamily="34" charset="0"/>
              </a:rPr>
              <a:t>+15%</a:t>
            </a:r>
            <a:endParaRPr lang="en-US" sz="1400">
              <a:latin typeface="Arial" panose="020B0604020202020204" pitchFamily="34" charset="0"/>
              <a:cs typeface="Arial" panose="020B0604020202020204" pitchFamily="34" charset="0"/>
            </a:endParaRPr>
          </a:p>
          <a:p>
            <a:pPr marL="174625" lvl="1" indent="-171450" fontAlgn="ctr">
              <a:buFont typeface="Wingdings" panose="05000000000000000000" pitchFamily="2" charset="2"/>
              <a:buChar char="§"/>
            </a:pPr>
            <a:r>
              <a:rPr lang="vi-VN" sz="1400">
                <a:latin typeface="Arial" panose="020B0604020202020204" pitchFamily="34" charset="0"/>
                <a:cs typeface="Arial" panose="020B0604020202020204" pitchFamily="34" charset="0"/>
              </a:rPr>
              <a:t>Retain top </a:t>
            </a:r>
            <a:r>
              <a:rPr lang="vi-VN" sz="1400" b="1">
                <a:latin typeface="Arial" panose="020B0604020202020204" pitchFamily="34" charset="0"/>
                <a:cs typeface="Arial" panose="020B0604020202020204" pitchFamily="34" charset="0"/>
              </a:rPr>
              <a:t>20% </a:t>
            </a:r>
            <a:r>
              <a:rPr lang="vi-VN" sz="1400">
                <a:latin typeface="Arial" panose="020B0604020202020204" pitchFamily="34" charset="0"/>
                <a:cs typeface="Arial" panose="020B0604020202020204" pitchFamily="34" charset="0"/>
              </a:rPr>
              <a:t>SMEs → increase CLV by </a:t>
            </a:r>
            <a:r>
              <a:rPr lang="vi-VN" sz="1400" b="1">
                <a:latin typeface="Arial" panose="020B0604020202020204" pitchFamily="34" charset="0"/>
                <a:cs typeface="Arial" panose="020B0604020202020204" pitchFamily="34" charset="0"/>
              </a:rPr>
              <a:t>+10%</a:t>
            </a:r>
            <a:endParaRPr lang="en-US" sz="1400" b="1">
              <a:latin typeface="Arial" panose="020B0604020202020204" pitchFamily="34" charset="0"/>
              <a:cs typeface="Arial" panose="020B0604020202020204" pitchFamily="34" charset="0"/>
            </a:endParaRPr>
          </a:p>
          <a:p>
            <a:pPr marL="174625" lvl="1" indent="-171450" fontAlgn="ctr">
              <a:buFont typeface="Wingdings" panose="05000000000000000000" pitchFamily="2" charset="2"/>
              <a:buChar char="§"/>
            </a:pPr>
            <a:r>
              <a:rPr lang="en-US" sz="1400">
                <a:latin typeface="Arial" panose="020B0604020202020204" pitchFamily="34" charset="0"/>
                <a:cs typeface="Arial" panose="020B0604020202020204" pitchFamily="34" charset="0"/>
              </a:rPr>
              <a:t>Improve CustomerID coverage from ~</a:t>
            </a:r>
            <a:r>
              <a:rPr lang="en-US" sz="1400" b="1">
                <a:latin typeface="Arial" panose="020B0604020202020204" pitchFamily="34" charset="0"/>
                <a:cs typeface="Arial" panose="020B0604020202020204" pitchFamily="34" charset="0"/>
              </a:rPr>
              <a:t>75% → 85%</a:t>
            </a:r>
            <a:endParaRPr lang="vi-VN" sz="1400" b="1">
              <a:latin typeface="Arial" panose="020B0604020202020204" pitchFamily="34" charset="0"/>
              <a:cs typeface="Arial" panose="020B0604020202020204" pitchFamily="34" charset="0"/>
            </a:endParaRPr>
          </a:p>
        </p:txBody>
      </p:sp>
      <p:sp>
        <p:nvSpPr>
          <p:cNvPr id="11" name="Freeform: Shape 10">
            <a:extLst>
              <a:ext uri="{FF2B5EF4-FFF2-40B4-BE49-F238E27FC236}">
                <a16:creationId xmlns:a16="http://schemas.microsoft.com/office/drawing/2014/main" id="{4CCF7932-7E73-1ADB-F0E4-ED7D111C721B}"/>
              </a:ext>
            </a:extLst>
          </p:cNvPr>
          <p:cNvSpPr/>
          <p:nvPr/>
        </p:nvSpPr>
        <p:spPr>
          <a:xfrm>
            <a:off x="0" y="3684936"/>
            <a:ext cx="2260030" cy="3173064"/>
          </a:xfrm>
          <a:custGeom>
            <a:avLst/>
            <a:gdLst>
              <a:gd name="connsiteX0" fmla="*/ 0 w 3714750"/>
              <a:gd name="connsiteY0" fmla="*/ 0 h 1485900"/>
              <a:gd name="connsiteX1" fmla="*/ 3714750 w 3714750"/>
              <a:gd name="connsiteY1" fmla="*/ 0 h 1485900"/>
              <a:gd name="connsiteX2" fmla="*/ 3714750 w 3714750"/>
              <a:gd name="connsiteY2" fmla="*/ 1485900 h 1485900"/>
              <a:gd name="connsiteX3" fmla="*/ 0 w 3714750"/>
              <a:gd name="connsiteY3" fmla="*/ 1485900 h 1485900"/>
              <a:gd name="connsiteX4" fmla="*/ 0 w 3714750"/>
              <a:gd name="connsiteY4" fmla="*/ 0 h 1485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0" h="1485900">
                <a:moveTo>
                  <a:pt x="0" y="0"/>
                </a:moveTo>
                <a:lnTo>
                  <a:pt x="3714750" y="0"/>
                </a:lnTo>
                <a:lnTo>
                  <a:pt x="3714750" y="1485900"/>
                </a:lnTo>
                <a:lnTo>
                  <a:pt x="0" y="1485900"/>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0688" tIns="97536" rIns="170688" bIns="97536" numCol="1" spcCol="1270" anchor="ctr" anchorCtr="0">
            <a:noAutofit/>
          </a:bodyPr>
          <a:lstStyle/>
          <a:p>
            <a:pPr defTabSz="1066773">
              <a:lnSpc>
                <a:spcPct val="90000"/>
              </a:lnSpc>
              <a:spcBef>
                <a:spcPct val="0"/>
              </a:spcBef>
              <a:spcAft>
                <a:spcPct val="35000"/>
              </a:spcAft>
            </a:pPr>
            <a:r>
              <a:rPr lang="vi-VN" sz="1400" b="1">
                <a:latin typeface="Arial" panose="020B0604020202020204" pitchFamily="34" charset="0"/>
                <a:cs typeface="Arial" panose="020B0604020202020204" pitchFamily="34" charset="0"/>
              </a:rPr>
              <a:t>CURRENT BASELINE (Starting Point)</a:t>
            </a:r>
            <a:r>
              <a:rPr lang="en-US" sz="1400" b="1">
                <a:latin typeface="Arial" panose="020B0604020202020204" pitchFamily="34" charset="0"/>
                <a:cs typeface="Arial" panose="020B0604020202020204" pitchFamily="34" charset="0"/>
              </a:rPr>
              <a:t>:</a:t>
            </a:r>
          </a:p>
          <a:p>
            <a:pPr marL="174625" lvl="1" indent="-171450" fontAlgn="ctr">
              <a:buFont typeface="Wingdings" panose="05000000000000000000" pitchFamily="2" charset="2"/>
              <a:buChar char="§"/>
            </a:pPr>
            <a:r>
              <a:rPr lang="en-US" sz="1400" b="1">
                <a:latin typeface="Arial" panose="020B0604020202020204" pitchFamily="34" charset="0"/>
                <a:cs typeface="Arial" panose="020B0604020202020204" pitchFamily="34" charset="0"/>
              </a:rPr>
              <a:t>~38%</a:t>
            </a:r>
            <a:r>
              <a:rPr lang="en-US" sz="1400">
                <a:latin typeface="Arial" panose="020B0604020202020204" pitchFamily="34" charset="0"/>
                <a:cs typeface="Arial" panose="020B0604020202020204" pitchFamily="34" charset="0"/>
              </a:rPr>
              <a:t> of annual revenue is generated in Q4.</a:t>
            </a:r>
          </a:p>
          <a:p>
            <a:pPr marL="174625" lvl="1" indent="-171450" fontAlgn="ctr">
              <a:buFont typeface="Wingdings" panose="05000000000000000000" pitchFamily="2" charset="2"/>
              <a:buChar char="§"/>
            </a:pPr>
            <a:r>
              <a:rPr lang="en-US" sz="1400">
                <a:latin typeface="Arial" panose="020B0604020202020204" pitchFamily="34" charset="0"/>
                <a:cs typeface="Arial" panose="020B0604020202020204" pitchFamily="34" charset="0"/>
              </a:rPr>
              <a:t>Top </a:t>
            </a:r>
            <a:r>
              <a:rPr lang="en-US" sz="1400" b="1">
                <a:latin typeface="Arial" panose="020B0604020202020204" pitchFamily="34" charset="0"/>
                <a:cs typeface="Arial" panose="020B0604020202020204" pitchFamily="34" charset="0"/>
              </a:rPr>
              <a:t>27%</a:t>
            </a:r>
            <a:r>
              <a:rPr lang="en-US" sz="1400">
                <a:latin typeface="Arial" panose="020B0604020202020204" pitchFamily="34" charset="0"/>
                <a:cs typeface="Arial" panose="020B0604020202020204" pitchFamily="34" charset="0"/>
              </a:rPr>
              <a:t> of customers generate ~</a:t>
            </a:r>
            <a:r>
              <a:rPr lang="en-US" sz="1400" b="1">
                <a:latin typeface="Arial" panose="020B0604020202020204" pitchFamily="34" charset="0"/>
                <a:cs typeface="Arial" panose="020B0604020202020204" pitchFamily="34" charset="0"/>
              </a:rPr>
              <a:t>80%</a:t>
            </a:r>
            <a:r>
              <a:rPr lang="en-US" sz="1400">
                <a:latin typeface="Arial" panose="020B0604020202020204" pitchFamily="34" charset="0"/>
                <a:cs typeface="Arial" panose="020B0604020202020204" pitchFamily="34" charset="0"/>
              </a:rPr>
              <a:t> of revenue</a:t>
            </a:r>
          </a:p>
          <a:p>
            <a:pPr marL="174625" lvl="1" indent="-171450" fontAlgn="ctr">
              <a:buFont typeface="Wingdings" panose="05000000000000000000" pitchFamily="2" charset="2"/>
              <a:buChar char="§"/>
            </a:pPr>
            <a:r>
              <a:rPr lang="en-US" sz="1400">
                <a:latin typeface="Arial" panose="020B0604020202020204" pitchFamily="34" charset="0"/>
                <a:cs typeface="Arial" panose="020B0604020202020204" pitchFamily="34" charset="0"/>
              </a:rPr>
              <a:t>Average month-1 retention is </a:t>
            </a:r>
            <a:r>
              <a:rPr lang="en-US" sz="1400" b="1">
                <a:latin typeface="Arial" panose="020B0604020202020204" pitchFamily="34" charset="0"/>
                <a:cs typeface="Arial" panose="020B0604020202020204" pitchFamily="34" charset="0"/>
              </a:rPr>
              <a:t>~22%</a:t>
            </a:r>
            <a:endParaRPr lang="en-US" sz="1400">
              <a:latin typeface="Arial" panose="020B0604020202020204" pitchFamily="34" charset="0"/>
              <a:cs typeface="Arial" panose="020B0604020202020204" pitchFamily="34" charset="0"/>
            </a:endParaRPr>
          </a:p>
          <a:p>
            <a:pPr marL="174625" lvl="1" indent="-171450" fontAlgn="ctr">
              <a:buFont typeface="Wingdings" panose="05000000000000000000" pitchFamily="2" charset="2"/>
              <a:buChar char="§"/>
            </a:pPr>
            <a:r>
              <a:rPr lang="en-US" sz="1400">
                <a:latin typeface="Arial" panose="020B0604020202020204" pitchFamily="34" charset="0"/>
                <a:cs typeface="Arial" panose="020B0604020202020204" pitchFamily="34" charset="0"/>
              </a:rPr>
              <a:t>Current CustomerID coverage is ~</a:t>
            </a:r>
            <a:r>
              <a:rPr lang="en-US" sz="1400" b="1">
                <a:latin typeface="Arial" panose="020B0604020202020204" pitchFamily="34" charset="0"/>
                <a:cs typeface="Arial" panose="020B0604020202020204" pitchFamily="34" charset="0"/>
              </a:rPr>
              <a:t>75%</a:t>
            </a:r>
            <a:endParaRPr lang="vi-VN" sz="1400">
              <a:latin typeface="Arial" panose="020B0604020202020204" pitchFamily="34" charset="0"/>
              <a:cs typeface="Arial" panose="020B0604020202020204" pitchFamily="34" charset="0"/>
            </a:endParaRPr>
          </a:p>
        </p:txBody>
      </p:sp>
      <p:sp>
        <p:nvSpPr>
          <p:cNvPr id="12" name="Freeform: Shape 11">
            <a:extLst>
              <a:ext uri="{FF2B5EF4-FFF2-40B4-BE49-F238E27FC236}">
                <a16:creationId xmlns:a16="http://schemas.microsoft.com/office/drawing/2014/main" id="{7BF8840A-BBB0-D060-A6C7-E8AB1B71E0A5}"/>
              </a:ext>
            </a:extLst>
          </p:cNvPr>
          <p:cNvSpPr/>
          <p:nvPr/>
        </p:nvSpPr>
        <p:spPr>
          <a:xfrm>
            <a:off x="2349658" y="0"/>
            <a:ext cx="9842342" cy="1063172"/>
          </a:xfrm>
          <a:custGeom>
            <a:avLst/>
            <a:gdLst>
              <a:gd name="connsiteX0" fmla="*/ 0 w 3714750"/>
              <a:gd name="connsiteY0" fmla="*/ 0 h 1485900"/>
              <a:gd name="connsiteX1" fmla="*/ 3714750 w 3714750"/>
              <a:gd name="connsiteY1" fmla="*/ 0 h 1485900"/>
              <a:gd name="connsiteX2" fmla="*/ 3714750 w 3714750"/>
              <a:gd name="connsiteY2" fmla="*/ 1485900 h 1485900"/>
              <a:gd name="connsiteX3" fmla="*/ 0 w 3714750"/>
              <a:gd name="connsiteY3" fmla="*/ 1485900 h 1485900"/>
              <a:gd name="connsiteX4" fmla="*/ 0 w 3714750"/>
              <a:gd name="connsiteY4" fmla="*/ 0 h 1485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0" h="1485900">
                <a:moveTo>
                  <a:pt x="0" y="0"/>
                </a:moveTo>
                <a:lnTo>
                  <a:pt x="3714750" y="0"/>
                </a:lnTo>
                <a:lnTo>
                  <a:pt x="3714750" y="1485900"/>
                </a:lnTo>
                <a:lnTo>
                  <a:pt x="0" y="1485900"/>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0688" tIns="97536" rIns="170688" bIns="97536" numCol="1" spcCol="1270" anchor="ctr" anchorCtr="0">
            <a:noAutofit/>
          </a:bodyPr>
          <a:lstStyle/>
          <a:p>
            <a:pPr defTabSz="1066773">
              <a:lnSpc>
                <a:spcPct val="90000"/>
              </a:lnSpc>
              <a:spcBef>
                <a:spcPct val="0"/>
              </a:spcBef>
              <a:spcAft>
                <a:spcPct val="35000"/>
              </a:spcAft>
            </a:pPr>
            <a:r>
              <a:rPr lang="en-US" sz="1500" b="1">
                <a:latin typeface="Arial" panose="020B0604020202020204" pitchFamily="34" charset="0"/>
                <a:cs typeface="Arial" panose="020B0604020202020204" pitchFamily="34" charset="0"/>
              </a:rPr>
              <a:t>OBJECTIVES: </a:t>
            </a:r>
            <a:r>
              <a:rPr lang="en-US" sz="1500">
                <a:latin typeface="Arial" panose="020B0604020202020204" pitchFamily="34" charset="0"/>
                <a:cs typeface="Arial" panose="020B0604020202020204" pitchFamily="34" charset="0"/>
              </a:rPr>
              <a:t>Increase non-Q4 revenue </a:t>
            </a:r>
            <a:r>
              <a:rPr lang="en-US" sz="1500" b="1">
                <a:latin typeface="Arial" panose="020B0604020202020204" pitchFamily="34" charset="0"/>
                <a:cs typeface="Arial" panose="020B0604020202020204" pitchFamily="34" charset="0"/>
              </a:rPr>
              <a:t>+15% </a:t>
            </a:r>
            <a:r>
              <a:rPr lang="en-US" sz="1500">
                <a:latin typeface="Arial" panose="020B0604020202020204" pitchFamily="34" charset="0"/>
                <a:cs typeface="Arial" panose="020B0604020202020204" pitchFamily="34" charset="0"/>
              </a:rPr>
              <a:t>YoY, boost SME CLV </a:t>
            </a:r>
            <a:r>
              <a:rPr lang="en-US" sz="1500" b="1">
                <a:latin typeface="Arial" panose="020B0604020202020204" pitchFamily="34" charset="0"/>
                <a:cs typeface="Arial" panose="020B0604020202020204" pitchFamily="34" charset="0"/>
              </a:rPr>
              <a:t>+10%</a:t>
            </a:r>
            <a:r>
              <a:rPr lang="en-US" sz="1500">
                <a:latin typeface="Arial" panose="020B0604020202020204" pitchFamily="34" charset="0"/>
                <a:cs typeface="Arial" panose="020B0604020202020204" pitchFamily="34" charset="0"/>
              </a:rPr>
              <a:t>, and achieve </a:t>
            </a:r>
            <a:r>
              <a:rPr lang="en-US" sz="1500" b="1">
                <a:latin typeface="Arial" panose="020B0604020202020204" pitchFamily="34" charset="0"/>
                <a:cs typeface="Arial" panose="020B0604020202020204" pitchFamily="34" charset="0"/>
              </a:rPr>
              <a:t>&gt;85% </a:t>
            </a:r>
            <a:r>
              <a:rPr lang="en-US" sz="1500">
                <a:latin typeface="Arial" panose="020B0604020202020204" pitchFamily="34" charset="0"/>
                <a:cs typeface="Arial" panose="020B0604020202020204" pitchFamily="34" charset="0"/>
              </a:rPr>
              <a:t>CustomerID coverage within </a:t>
            </a:r>
            <a:r>
              <a:rPr lang="en-US" sz="1500" b="1">
                <a:latin typeface="Arial" panose="020B0604020202020204" pitchFamily="34" charset="0"/>
                <a:cs typeface="Arial" panose="020B0604020202020204" pitchFamily="34" charset="0"/>
              </a:rPr>
              <a:t>12 months</a:t>
            </a:r>
            <a:endParaRPr lang="vi-VN" sz="1500" b="1">
              <a:latin typeface="Arial" panose="020B0604020202020204" pitchFamily="34" charset="0"/>
              <a:cs typeface="Arial" panose="020B0604020202020204" pitchFamily="34" charset="0"/>
            </a:endParaRPr>
          </a:p>
        </p:txBody>
      </p:sp>
      <p:sp>
        <p:nvSpPr>
          <p:cNvPr id="13" name="Freeform: Shape 12">
            <a:extLst>
              <a:ext uri="{FF2B5EF4-FFF2-40B4-BE49-F238E27FC236}">
                <a16:creationId xmlns:a16="http://schemas.microsoft.com/office/drawing/2014/main" id="{1554B341-4C80-A5CF-D663-18FA8D9797CD}"/>
              </a:ext>
            </a:extLst>
          </p:cNvPr>
          <p:cNvSpPr/>
          <p:nvPr/>
        </p:nvSpPr>
        <p:spPr>
          <a:xfrm>
            <a:off x="2347423" y="1126818"/>
            <a:ext cx="2901852" cy="804147"/>
          </a:xfrm>
          <a:custGeom>
            <a:avLst/>
            <a:gdLst>
              <a:gd name="connsiteX0" fmla="*/ 0 w 3714750"/>
              <a:gd name="connsiteY0" fmla="*/ 0 h 1485900"/>
              <a:gd name="connsiteX1" fmla="*/ 3714750 w 3714750"/>
              <a:gd name="connsiteY1" fmla="*/ 0 h 1485900"/>
              <a:gd name="connsiteX2" fmla="*/ 3714750 w 3714750"/>
              <a:gd name="connsiteY2" fmla="*/ 1485900 h 1485900"/>
              <a:gd name="connsiteX3" fmla="*/ 0 w 3714750"/>
              <a:gd name="connsiteY3" fmla="*/ 1485900 h 1485900"/>
              <a:gd name="connsiteX4" fmla="*/ 0 w 3714750"/>
              <a:gd name="connsiteY4" fmla="*/ 0 h 1485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0" h="1485900">
                <a:moveTo>
                  <a:pt x="0" y="0"/>
                </a:moveTo>
                <a:lnTo>
                  <a:pt x="3714750" y="0"/>
                </a:lnTo>
                <a:lnTo>
                  <a:pt x="3714750" y="1485900"/>
                </a:lnTo>
                <a:lnTo>
                  <a:pt x="0" y="1485900"/>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0688" tIns="97536" rIns="170688" bIns="97536" numCol="1" spcCol="1270" anchor="ctr" anchorCtr="0">
            <a:noAutofit/>
          </a:bodyPr>
          <a:lstStyle/>
          <a:p>
            <a:pPr algn="ctr" defTabSz="1066773">
              <a:lnSpc>
                <a:spcPct val="90000"/>
              </a:lnSpc>
              <a:spcBef>
                <a:spcPct val="0"/>
              </a:spcBef>
              <a:spcAft>
                <a:spcPct val="35000"/>
              </a:spcAft>
            </a:pPr>
            <a:r>
              <a:rPr lang="en-US" sz="1400" b="1">
                <a:latin typeface="Arial" panose="020B0604020202020204" pitchFamily="34" charset="0"/>
                <a:cs typeface="Arial" panose="020B0604020202020204" pitchFamily="34" charset="0"/>
              </a:rPr>
              <a:t>STRATEGY</a:t>
            </a:r>
            <a:endParaRPr lang="vi-VN" sz="1400" b="1">
              <a:latin typeface="Arial" panose="020B0604020202020204" pitchFamily="34" charset="0"/>
              <a:cs typeface="Arial" panose="020B0604020202020204" pitchFamily="34" charset="0"/>
            </a:endParaRPr>
          </a:p>
        </p:txBody>
      </p:sp>
      <p:sp>
        <p:nvSpPr>
          <p:cNvPr id="14" name="Freeform: Shape 13">
            <a:extLst>
              <a:ext uri="{FF2B5EF4-FFF2-40B4-BE49-F238E27FC236}">
                <a16:creationId xmlns:a16="http://schemas.microsoft.com/office/drawing/2014/main" id="{F03EA59B-F30F-3AF8-A870-6C1509734B52}"/>
              </a:ext>
            </a:extLst>
          </p:cNvPr>
          <p:cNvSpPr/>
          <p:nvPr/>
        </p:nvSpPr>
        <p:spPr>
          <a:xfrm>
            <a:off x="2347423" y="1994611"/>
            <a:ext cx="2901852" cy="1502531"/>
          </a:xfrm>
          <a:custGeom>
            <a:avLst/>
            <a:gdLst>
              <a:gd name="connsiteX0" fmla="*/ 0 w 3714750"/>
              <a:gd name="connsiteY0" fmla="*/ 0 h 2854800"/>
              <a:gd name="connsiteX1" fmla="*/ 3714750 w 3714750"/>
              <a:gd name="connsiteY1" fmla="*/ 0 h 2854800"/>
              <a:gd name="connsiteX2" fmla="*/ 3714750 w 3714750"/>
              <a:gd name="connsiteY2" fmla="*/ 2854800 h 2854800"/>
              <a:gd name="connsiteX3" fmla="*/ 0 w 3714750"/>
              <a:gd name="connsiteY3" fmla="*/ 2854800 h 2854800"/>
              <a:gd name="connsiteX4" fmla="*/ 0 w 3714750"/>
              <a:gd name="connsiteY4" fmla="*/ 0 h 285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0" h="2854800">
                <a:moveTo>
                  <a:pt x="0" y="0"/>
                </a:moveTo>
                <a:lnTo>
                  <a:pt x="3714750" y="0"/>
                </a:lnTo>
                <a:lnTo>
                  <a:pt x="3714750" y="2854800"/>
                </a:lnTo>
                <a:lnTo>
                  <a:pt x="0" y="2854800"/>
                </a:lnTo>
                <a:lnTo>
                  <a:pt x="0" y="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85344" tIns="85344" rIns="113792" bIns="128016" numCol="1" spcCol="1270" anchor="t" anchorCtr="0">
            <a:noAutofit/>
          </a:bodyPr>
          <a:lstStyle/>
          <a:p>
            <a:pPr marL="0" lvl="1" defTabSz="711182">
              <a:lnSpc>
                <a:spcPct val="90000"/>
              </a:lnSpc>
              <a:spcBef>
                <a:spcPct val="0"/>
              </a:spcBef>
              <a:spcAft>
                <a:spcPct val="15000"/>
              </a:spcAft>
            </a:pPr>
            <a:r>
              <a:rPr lang="en-US" sz="1200" b="1">
                <a:latin typeface="Arial" panose="020B0604020202020204" pitchFamily="34" charset="0"/>
                <a:cs typeface="Arial" panose="020B0604020202020204" pitchFamily="34" charset="0"/>
              </a:rPr>
              <a:t>Strategy 1: </a:t>
            </a:r>
            <a:r>
              <a:rPr lang="vi-VN" sz="1200" b="1">
                <a:latin typeface="Arial" panose="020B0604020202020204" pitchFamily="34" charset="0"/>
                <a:cs typeface="Arial" panose="020B0604020202020204" pitchFamily="34" charset="0"/>
              </a:rPr>
              <a:t>Diversify Seasonality</a:t>
            </a:r>
            <a:endParaRPr lang="en-US" sz="1200" b="1">
              <a:latin typeface="Arial" panose="020B0604020202020204" pitchFamily="34" charset="0"/>
              <a:cs typeface="Arial" panose="020B0604020202020204" pitchFamily="34" charset="0"/>
            </a:endParaRPr>
          </a:p>
          <a:p>
            <a:pPr marL="171446" lvl="1" indent="-171446" defTabSz="711182">
              <a:lnSpc>
                <a:spcPct val="90000"/>
              </a:lnSpc>
              <a:spcBef>
                <a:spcPct val="0"/>
              </a:spcBef>
              <a:spcAft>
                <a:spcPct val="15000"/>
              </a:spcAft>
              <a:buFontTx/>
              <a:buChar char="•"/>
            </a:pPr>
            <a:r>
              <a:rPr lang="en-US" sz="1300">
                <a:latin typeface="Arial" panose="020B0604020202020204" pitchFamily="34" charset="0"/>
                <a:cs typeface="Arial" panose="020B0604020202020204" pitchFamily="34" charset="0"/>
              </a:rPr>
              <a:t>Expand “non-seasonal” product lines (e.g., household goods, stationery).</a:t>
            </a:r>
          </a:p>
          <a:p>
            <a:pPr marL="171446" lvl="1" indent="-171446" defTabSz="711182">
              <a:lnSpc>
                <a:spcPct val="90000"/>
              </a:lnSpc>
              <a:spcBef>
                <a:spcPct val="0"/>
              </a:spcBef>
              <a:spcAft>
                <a:spcPct val="15000"/>
              </a:spcAft>
              <a:buFontTx/>
              <a:buChar char="•"/>
            </a:pPr>
            <a:r>
              <a:rPr lang="en-US" sz="1300">
                <a:latin typeface="Arial" panose="020B0604020202020204" pitchFamily="34" charset="0"/>
                <a:cs typeface="Arial" panose="020B0604020202020204" pitchFamily="34" charset="0"/>
              </a:rPr>
              <a:t>Run year-round promotions → create mini-peaks in Q2 &amp; Q3.</a:t>
            </a:r>
          </a:p>
          <a:p>
            <a:pPr marL="0" lvl="1" defTabSz="711182">
              <a:lnSpc>
                <a:spcPct val="90000"/>
              </a:lnSpc>
              <a:spcBef>
                <a:spcPct val="0"/>
              </a:spcBef>
              <a:spcAft>
                <a:spcPct val="15000"/>
              </a:spcAft>
            </a:pPr>
            <a:r>
              <a:rPr lang="en-US" sz="1000">
                <a:latin typeface="Arial" panose="020B0604020202020204" pitchFamily="34" charset="0"/>
                <a:cs typeface="Arial" panose="020B0604020202020204" pitchFamily="34" charset="0"/>
              </a:rPr>
              <a:t>(Based on shared-reality insight: Q4 contributes ~38% revenue → high seasonality risk)</a:t>
            </a:r>
            <a:endParaRPr lang="vi-VN" sz="1000">
              <a:latin typeface="Arial" panose="020B0604020202020204" pitchFamily="34" charset="0"/>
              <a:cs typeface="Arial" panose="020B0604020202020204" pitchFamily="34" charset="0"/>
            </a:endParaRPr>
          </a:p>
        </p:txBody>
      </p:sp>
      <p:sp>
        <p:nvSpPr>
          <p:cNvPr id="17" name="Freeform: Shape 16">
            <a:extLst>
              <a:ext uri="{FF2B5EF4-FFF2-40B4-BE49-F238E27FC236}">
                <a16:creationId xmlns:a16="http://schemas.microsoft.com/office/drawing/2014/main" id="{93C3ED10-CA61-4895-DC0C-76D2A92686C2}"/>
              </a:ext>
            </a:extLst>
          </p:cNvPr>
          <p:cNvSpPr/>
          <p:nvPr/>
        </p:nvSpPr>
        <p:spPr>
          <a:xfrm>
            <a:off x="2347423" y="3560788"/>
            <a:ext cx="2884686" cy="1569026"/>
          </a:xfrm>
          <a:custGeom>
            <a:avLst/>
            <a:gdLst>
              <a:gd name="connsiteX0" fmla="*/ 0 w 3714750"/>
              <a:gd name="connsiteY0" fmla="*/ 0 h 2854800"/>
              <a:gd name="connsiteX1" fmla="*/ 3714750 w 3714750"/>
              <a:gd name="connsiteY1" fmla="*/ 0 h 2854800"/>
              <a:gd name="connsiteX2" fmla="*/ 3714750 w 3714750"/>
              <a:gd name="connsiteY2" fmla="*/ 2854800 h 2854800"/>
              <a:gd name="connsiteX3" fmla="*/ 0 w 3714750"/>
              <a:gd name="connsiteY3" fmla="*/ 2854800 h 2854800"/>
              <a:gd name="connsiteX4" fmla="*/ 0 w 3714750"/>
              <a:gd name="connsiteY4" fmla="*/ 0 h 285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0" h="2854800">
                <a:moveTo>
                  <a:pt x="0" y="0"/>
                </a:moveTo>
                <a:lnTo>
                  <a:pt x="3714750" y="0"/>
                </a:lnTo>
                <a:lnTo>
                  <a:pt x="3714750" y="2854800"/>
                </a:lnTo>
                <a:lnTo>
                  <a:pt x="0" y="2854800"/>
                </a:lnTo>
                <a:lnTo>
                  <a:pt x="0" y="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85344" tIns="85344" rIns="113792" bIns="128016" numCol="1" spcCol="1270" anchor="t" anchorCtr="0">
            <a:noAutofit/>
          </a:bodyPr>
          <a:lstStyle/>
          <a:p>
            <a:pPr marL="0" lvl="1" defTabSz="711182">
              <a:lnSpc>
                <a:spcPct val="90000"/>
              </a:lnSpc>
              <a:spcBef>
                <a:spcPct val="0"/>
              </a:spcBef>
              <a:spcAft>
                <a:spcPct val="15000"/>
              </a:spcAft>
            </a:pPr>
            <a:r>
              <a:rPr lang="en-US" sz="1200" b="1">
                <a:latin typeface="Arial" panose="020B0604020202020204" pitchFamily="34" charset="0"/>
                <a:cs typeface="Arial" panose="020B0604020202020204" pitchFamily="34" charset="0"/>
              </a:rPr>
              <a:t>Strategy 2: </a:t>
            </a:r>
            <a:r>
              <a:rPr lang="vi-VN" sz="1200" b="1">
                <a:latin typeface="Arial" panose="020B0604020202020204" pitchFamily="34" charset="0"/>
                <a:cs typeface="Arial" panose="020B0604020202020204" pitchFamily="34" charset="0"/>
              </a:rPr>
              <a:t>SME Retention &amp; Loyalty</a:t>
            </a:r>
            <a:endParaRPr lang="en-US" sz="1200">
              <a:latin typeface="Arial" panose="020B0604020202020204" pitchFamily="34" charset="0"/>
              <a:cs typeface="Arial" panose="020B0604020202020204" pitchFamily="34" charset="0"/>
            </a:endParaRPr>
          </a:p>
          <a:p>
            <a:pPr marL="171446" lvl="1" indent="-171446" defTabSz="711182">
              <a:lnSpc>
                <a:spcPct val="90000"/>
              </a:lnSpc>
              <a:spcBef>
                <a:spcPct val="0"/>
              </a:spcBef>
              <a:spcAft>
                <a:spcPct val="15000"/>
              </a:spcAft>
              <a:buFontTx/>
              <a:buChar char="•"/>
            </a:pPr>
            <a:r>
              <a:rPr lang="en-US" sz="1200">
                <a:latin typeface="Arial" panose="020B0604020202020204" pitchFamily="34" charset="0"/>
                <a:cs typeface="Arial" panose="020B0604020202020204" pitchFamily="34" charset="0"/>
              </a:rPr>
              <a:t>Launch SME loyalty program (membership tiers) </a:t>
            </a:r>
          </a:p>
          <a:p>
            <a:pPr marL="171446" lvl="1" indent="-171446" defTabSz="711182">
              <a:lnSpc>
                <a:spcPct val="90000"/>
              </a:lnSpc>
              <a:spcBef>
                <a:spcPct val="0"/>
              </a:spcBef>
              <a:spcAft>
                <a:spcPct val="15000"/>
              </a:spcAft>
              <a:buFontTx/>
              <a:buChar char="•"/>
            </a:pPr>
            <a:r>
              <a:rPr lang="en-US" sz="1200">
                <a:latin typeface="Arial" panose="020B0604020202020204" pitchFamily="34" charset="0"/>
                <a:cs typeface="Arial" panose="020B0604020202020204" pitchFamily="34" charset="0"/>
              </a:rPr>
              <a:t>Offer bulk purchase discounts for SMEs.</a:t>
            </a:r>
          </a:p>
          <a:p>
            <a:pPr marL="0" lvl="1" defTabSz="711182">
              <a:lnSpc>
                <a:spcPct val="90000"/>
              </a:lnSpc>
              <a:spcBef>
                <a:spcPct val="0"/>
              </a:spcBef>
              <a:spcAft>
                <a:spcPct val="15000"/>
              </a:spcAft>
            </a:pPr>
            <a:r>
              <a:rPr lang="en-US" sz="1000">
                <a:latin typeface="Arial" panose="020B0604020202020204" pitchFamily="34" charset="0"/>
                <a:cs typeface="Arial" panose="020B0604020202020204" pitchFamily="34" charset="0"/>
              </a:rPr>
              <a:t>(Based on shared-reality insight: Top 27% customers (SMEs) generate ~80% revenue → SMEs are the core value segment)</a:t>
            </a:r>
            <a:r>
              <a:rPr lang="en-US" sz="800">
                <a:latin typeface="Arial" panose="020B0604020202020204" pitchFamily="34" charset="0"/>
                <a:cs typeface="Arial" panose="020B0604020202020204" pitchFamily="34" charset="0"/>
              </a:rPr>
              <a:t>		</a:t>
            </a:r>
            <a:endParaRPr lang="en-US" sz="2000">
              <a:latin typeface="Arial" panose="020B0604020202020204" pitchFamily="34" charset="0"/>
              <a:cs typeface="Arial" panose="020B0604020202020204" pitchFamily="34" charset="0"/>
            </a:endParaRPr>
          </a:p>
        </p:txBody>
      </p:sp>
      <p:sp>
        <p:nvSpPr>
          <p:cNvPr id="18" name="Freeform: Shape 17">
            <a:extLst>
              <a:ext uri="{FF2B5EF4-FFF2-40B4-BE49-F238E27FC236}">
                <a16:creationId xmlns:a16="http://schemas.microsoft.com/office/drawing/2014/main" id="{A69C5932-7C46-7602-8BC8-3F2A08B32C6E}"/>
              </a:ext>
            </a:extLst>
          </p:cNvPr>
          <p:cNvSpPr/>
          <p:nvPr/>
        </p:nvSpPr>
        <p:spPr>
          <a:xfrm>
            <a:off x="2347423" y="5193460"/>
            <a:ext cx="2884686" cy="1664540"/>
          </a:xfrm>
          <a:custGeom>
            <a:avLst/>
            <a:gdLst>
              <a:gd name="connsiteX0" fmla="*/ 0 w 3714750"/>
              <a:gd name="connsiteY0" fmla="*/ 0 h 2854800"/>
              <a:gd name="connsiteX1" fmla="*/ 3714750 w 3714750"/>
              <a:gd name="connsiteY1" fmla="*/ 0 h 2854800"/>
              <a:gd name="connsiteX2" fmla="*/ 3714750 w 3714750"/>
              <a:gd name="connsiteY2" fmla="*/ 2854800 h 2854800"/>
              <a:gd name="connsiteX3" fmla="*/ 0 w 3714750"/>
              <a:gd name="connsiteY3" fmla="*/ 2854800 h 2854800"/>
              <a:gd name="connsiteX4" fmla="*/ 0 w 3714750"/>
              <a:gd name="connsiteY4" fmla="*/ 0 h 285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0" h="2854800">
                <a:moveTo>
                  <a:pt x="0" y="0"/>
                </a:moveTo>
                <a:lnTo>
                  <a:pt x="3714750" y="0"/>
                </a:lnTo>
                <a:lnTo>
                  <a:pt x="3714750" y="2854800"/>
                </a:lnTo>
                <a:lnTo>
                  <a:pt x="0" y="2854800"/>
                </a:lnTo>
                <a:lnTo>
                  <a:pt x="0" y="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85344" tIns="85344" rIns="113792" bIns="128016" numCol="1" spcCol="1270" anchor="t" anchorCtr="0">
            <a:noAutofit/>
          </a:bodyPr>
          <a:lstStyle/>
          <a:p>
            <a:pPr marL="0" lvl="1" defTabSz="711182">
              <a:lnSpc>
                <a:spcPct val="90000"/>
              </a:lnSpc>
              <a:spcBef>
                <a:spcPct val="0"/>
              </a:spcBef>
              <a:spcAft>
                <a:spcPct val="15000"/>
              </a:spcAft>
            </a:pPr>
            <a:r>
              <a:rPr lang="en-US" sz="1200" b="1">
                <a:latin typeface="Arial" panose="020B0604020202020204" pitchFamily="34" charset="0"/>
                <a:cs typeface="Arial" panose="020B0604020202020204" pitchFamily="34" charset="0"/>
              </a:rPr>
              <a:t>Strategy 3: </a:t>
            </a:r>
            <a:r>
              <a:rPr lang="vi-VN" sz="1200" b="1">
                <a:latin typeface="Arial" panose="020B0604020202020204" pitchFamily="34" charset="0"/>
                <a:cs typeface="Arial" panose="020B0604020202020204" pitchFamily="34" charset="0"/>
              </a:rPr>
              <a:t>Customer Identification &amp; Data Enrichment</a:t>
            </a:r>
            <a:endParaRPr lang="en-US" sz="1200" b="1">
              <a:latin typeface="Arial" panose="020B0604020202020204" pitchFamily="34" charset="0"/>
              <a:cs typeface="Arial" panose="020B0604020202020204" pitchFamily="34" charset="0"/>
            </a:endParaRPr>
          </a:p>
          <a:p>
            <a:pPr marL="171446" lvl="1" indent="-171446" defTabSz="711182">
              <a:lnSpc>
                <a:spcPct val="90000"/>
              </a:lnSpc>
              <a:spcBef>
                <a:spcPct val="0"/>
              </a:spcBef>
              <a:spcAft>
                <a:spcPct val="15000"/>
              </a:spcAft>
              <a:buFontTx/>
              <a:buChar char="•"/>
            </a:pPr>
            <a:r>
              <a:rPr lang="en-US" sz="1300">
                <a:latin typeface="Arial" panose="020B0604020202020204" pitchFamily="34" charset="0"/>
                <a:cs typeface="Arial" panose="020B0604020202020204" pitchFamily="34" charset="0"/>
              </a:rPr>
              <a:t>Incentivize account registration (voucher on 2nd purchase).</a:t>
            </a:r>
          </a:p>
          <a:p>
            <a:pPr marL="171446" lvl="1" indent="-171446" defTabSz="711182">
              <a:lnSpc>
                <a:spcPct val="90000"/>
              </a:lnSpc>
              <a:spcBef>
                <a:spcPct val="0"/>
              </a:spcBef>
              <a:spcAft>
                <a:spcPct val="15000"/>
              </a:spcAft>
              <a:buFontTx/>
              <a:buChar char="•"/>
            </a:pPr>
            <a:r>
              <a:rPr lang="en-US" sz="1300">
                <a:latin typeface="Arial" panose="020B0604020202020204" pitchFamily="34" charset="0"/>
                <a:cs typeface="Arial" panose="020B0604020202020204" pitchFamily="34" charset="0"/>
              </a:rPr>
              <a:t>Integrate email/phone tracking to monitor repeat purchases.</a:t>
            </a:r>
          </a:p>
          <a:p>
            <a:pPr marL="0" lvl="1" defTabSz="711182">
              <a:lnSpc>
                <a:spcPct val="90000"/>
              </a:lnSpc>
              <a:spcBef>
                <a:spcPct val="0"/>
              </a:spcBef>
              <a:spcAft>
                <a:spcPct val="15000"/>
              </a:spcAft>
            </a:pPr>
            <a:r>
              <a:rPr lang="en-US" sz="1000">
                <a:latin typeface="Arial" panose="020B0604020202020204" pitchFamily="34" charset="0"/>
                <a:cs typeface="Arial" panose="020B0604020202020204" pitchFamily="34" charset="0"/>
              </a:rPr>
              <a:t>(Based on shared-reality insight: ~25% transactions missing CustomerID → limits CLV analysis &amp; loyalty initiatives)</a:t>
            </a:r>
            <a:endParaRPr lang="vi-VN" sz="1000">
              <a:latin typeface="Arial" panose="020B0604020202020204" pitchFamily="34" charset="0"/>
              <a:cs typeface="Arial" panose="020B0604020202020204" pitchFamily="34" charset="0"/>
            </a:endParaRPr>
          </a:p>
        </p:txBody>
      </p:sp>
      <p:sp>
        <p:nvSpPr>
          <p:cNvPr id="29" name="Freeform: Shape 28">
            <a:extLst>
              <a:ext uri="{FF2B5EF4-FFF2-40B4-BE49-F238E27FC236}">
                <a16:creationId xmlns:a16="http://schemas.microsoft.com/office/drawing/2014/main" id="{017C7C65-FF37-73C0-D2FB-2BBB4F30BE12}"/>
              </a:ext>
            </a:extLst>
          </p:cNvPr>
          <p:cNvSpPr/>
          <p:nvPr/>
        </p:nvSpPr>
        <p:spPr>
          <a:xfrm>
            <a:off x="8833778" y="1997582"/>
            <a:ext cx="3358221" cy="1499559"/>
          </a:xfrm>
          <a:custGeom>
            <a:avLst/>
            <a:gdLst>
              <a:gd name="connsiteX0" fmla="*/ 0 w 3714750"/>
              <a:gd name="connsiteY0" fmla="*/ 0 h 2854800"/>
              <a:gd name="connsiteX1" fmla="*/ 3714750 w 3714750"/>
              <a:gd name="connsiteY1" fmla="*/ 0 h 2854800"/>
              <a:gd name="connsiteX2" fmla="*/ 3714750 w 3714750"/>
              <a:gd name="connsiteY2" fmla="*/ 2854800 h 2854800"/>
              <a:gd name="connsiteX3" fmla="*/ 0 w 3714750"/>
              <a:gd name="connsiteY3" fmla="*/ 2854800 h 2854800"/>
              <a:gd name="connsiteX4" fmla="*/ 0 w 3714750"/>
              <a:gd name="connsiteY4" fmla="*/ 0 h 285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0" h="2854800">
                <a:moveTo>
                  <a:pt x="0" y="0"/>
                </a:moveTo>
                <a:lnTo>
                  <a:pt x="3714750" y="0"/>
                </a:lnTo>
                <a:lnTo>
                  <a:pt x="3714750" y="2854800"/>
                </a:lnTo>
                <a:lnTo>
                  <a:pt x="0" y="2854800"/>
                </a:lnTo>
                <a:lnTo>
                  <a:pt x="0" y="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85344" tIns="85344" rIns="113792" bIns="128016" numCol="1" spcCol="1270" anchor="t" anchorCtr="0">
            <a:noAutofit/>
          </a:bodyPr>
          <a:lstStyle/>
          <a:p>
            <a:pPr marL="171446" lvl="1" indent="-171446" defTabSz="711182">
              <a:lnSpc>
                <a:spcPct val="90000"/>
              </a:lnSpc>
              <a:spcBef>
                <a:spcPct val="0"/>
              </a:spcBef>
              <a:spcAft>
                <a:spcPct val="15000"/>
              </a:spcAft>
              <a:buFontTx/>
              <a:buChar char="•"/>
            </a:pPr>
            <a:endParaRPr lang="en-US" sz="1300">
              <a:latin typeface="Arial" panose="020B0604020202020204" pitchFamily="34" charset="0"/>
              <a:cs typeface="Arial" panose="020B0604020202020204" pitchFamily="34" charset="0"/>
            </a:endParaRPr>
          </a:p>
          <a:p>
            <a:pPr marL="171446" lvl="1" indent="-171446" defTabSz="711182">
              <a:lnSpc>
                <a:spcPct val="90000"/>
              </a:lnSpc>
              <a:spcBef>
                <a:spcPct val="0"/>
              </a:spcBef>
              <a:spcAft>
                <a:spcPct val="15000"/>
              </a:spcAft>
              <a:buFontTx/>
              <a:buChar char="•"/>
            </a:pPr>
            <a:r>
              <a:rPr lang="en-US" sz="1300"/>
              <a:t>% of total revenue generated outside Q4</a:t>
            </a:r>
          </a:p>
          <a:p>
            <a:pPr marL="171446" lvl="1" indent="-171446" defTabSz="711182">
              <a:lnSpc>
                <a:spcPct val="90000"/>
              </a:lnSpc>
              <a:spcBef>
                <a:spcPct val="0"/>
              </a:spcBef>
              <a:spcAft>
                <a:spcPct val="15000"/>
              </a:spcAft>
              <a:buFontTx/>
              <a:buChar char="•"/>
            </a:pPr>
            <a:endParaRPr lang="en-US" sz="1300">
              <a:latin typeface="Arial" panose="020B0604020202020204" pitchFamily="34" charset="0"/>
              <a:cs typeface="Arial" panose="020B0604020202020204" pitchFamily="34" charset="0"/>
            </a:endParaRPr>
          </a:p>
          <a:p>
            <a:pPr marL="171446" lvl="1" indent="-171446" defTabSz="711182">
              <a:lnSpc>
                <a:spcPct val="90000"/>
              </a:lnSpc>
              <a:spcBef>
                <a:spcPct val="0"/>
              </a:spcBef>
              <a:spcAft>
                <a:spcPct val="15000"/>
              </a:spcAft>
              <a:buFontTx/>
              <a:buChar char="•"/>
            </a:pPr>
            <a:endParaRPr lang="en-US" sz="1300">
              <a:latin typeface="Arial" panose="020B0604020202020204" pitchFamily="34" charset="0"/>
              <a:cs typeface="Arial" panose="020B0604020202020204" pitchFamily="34" charset="0"/>
            </a:endParaRPr>
          </a:p>
          <a:p>
            <a:pPr marL="171446" lvl="1" indent="-171446" defTabSz="711182">
              <a:lnSpc>
                <a:spcPct val="90000"/>
              </a:lnSpc>
              <a:spcBef>
                <a:spcPct val="0"/>
              </a:spcBef>
              <a:spcAft>
                <a:spcPct val="15000"/>
              </a:spcAft>
              <a:buFontTx/>
              <a:buChar char="•"/>
            </a:pPr>
            <a:r>
              <a:rPr lang="en-US" sz="1300">
                <a:latin typeface="Arial" panose="020B0604020202020204" pitchFamily="34" charset="0"/>
                <a:cs typeface="Arial" panose="020B0604020202020204" pitchFamily="34" charset="0"/>
              </a:rPr>
              <a:t>YoY sales uplift in Q2 &amp; Q3 (%)</a:t>
            </a:r>
            <a:endParaRPr lang="vi-VN" sz="1300">
              <a:latin typeface="Arial" panose="020B0604020202020204" pitchFamily="34" charset="0"/>
              <a:cs typeface="Arial" panose="020B0604020202020204" pitchFamily="34" charset="0"/>
            </a:endParaRPr>
          </a:p>
        </p:txBody>
      </p:sp>
      <p:sp>
        <p:nvSpPr>
          <p:cNvPr id="19" name="Freeform: Shape 18">
            <a:extLst>
              <a:ext uri="{FF2B5EF4-FFF2-40B4-BE49-F238E27FC236}">
                <a16:creationId xmlns:a16="http://schemas.microsoft.com/office/drawing/2014/main" id="{ACB61D7D-8896-A8A1-8171-A30D971A5C0D}"/>
              </a:ext>
            </a:extLst>
          </p:cNvPr>
          <p:cNvSpPr/>
          <p:nvPr/>
        </p:nvSpPr>
        <p:spPr>
          <a:xfrm>
            <a:off x="5353835" y="1126819"/>
            <a:ext cx="6838164" cy="370249"/>
          </a:xfrm>
          <a:custGeom>
            <a:avLst/>
            <a:gdLst>
              <a:gd name="connsiteX0" fmla="*/ 0 w 3714750"/>
              <a:gd name="connsiteY0" fmla="*/ 0 h 1485900"/>
              <a:gd name="connsiteX1" fmla="*/ 3714750 w 3714750"/>
              <a:gd name="connsiteY1" fmla="*/ 0 h 1485900"/>
              <a:gd name="connsiteX2" fmla="*/ 3714750 w 3714750"/>
              <a:gd name="connsiteY2" fmla="*/ 1485900 h 1485900"/>
              <a:gd name="connsiteX3" fmla="*/ 0 w 3714750"/>
              <a:gd name="connsiteY3" fmla="*/ 1485900 h 1485900"/>
              <a:gd name="connsiteX4" fmla="*/ 0 w 3714750"/>
              <a:gd name="connsiteY4" fmla="*/ 0 h 1485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0" h="1485900">
                <a:moveTo>
                  <a:pt x="0" y="0"/>
                </a:moveTo>
                <a:lnTo>
                  <a:pt x="3714750" y="0"/>
                </a:lnTo>
                <a:lnTo>
                  <a:pt x="3714750" y="1485900"/>
                </a:lnTo>
                <a:lnTo>
                  <a:pt x="0" y="1485900"/>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0688" tIns="97536" rIns="170688" bIns="97536" numCol="1" spcCol="1270" anchor="ctr" anchorCtr="0">
            <a:noAutofit/>
          </a:bodyPr>
          <a:lstStyle/>
          <a:p>
            <a:pPr algn="ctr" defTabSz="1066773">
              <a:lnSpc>
                <a:spcPct val="90000"/>
              </a:lnSpc>
              <a:spcBef>
                <a:spcPct val="0"/>
              </a:spcBef>
              <a:spcAft>
                <a:spcPct val="35000"/>
              </a:spcAft>
            </a:pPr>
            <a:r>
              <a:rPr lang="en-US" sz="1400" b="1">
                <a:latin typeface="Arial" panose="020B0604020202020204" pitchFamily="34" charset="0"/>
                <a:cs typeface="Arial" panose="020B0604020202020204" pitchFamily="34" charset="0"/>
              </a:rPr>
              <a:t>MEASUREMENTS</a:t>
            </a:r>
            <a:endParaRPr lang="vi-VN" sz="1400" b="1">
              <a:latin typeface="Arial" panose="020B0604020202020204" pitchFamily="34" charset="0"/>
              <a:cs typeface="Arial" panose="020B0604020202020204" pitchFamily="34" charset="0"/>
            </a:endParaRPr>
          </a:p>
        </p:txBody>
      </p:sp>
      <p:sp>
        <p:nvSpPr>
          <p:cNvPr id="20" name="Freeform: Shape 19">
            <a:extLst>
              <a:ext uri="{FF2B5EF4-FFF2-40B4-BE49-F238E27FC236}">
                <a16:creationId xmlns:a16="http://schemas.microsoft.com/office/drawing/2014/main" id="{5678881D-627D-0588-021D-19090D43A5F2}"/>
              </a:ext>
            </a:extLst>
          </p:cNvPr>
          <p:cNvSpPr/>
          <p:nvPr/>
        </p:nvSpPr>
        <p:spPr>
          <a:xfrm>
            <a:off x="5353834" y="1560715"/>
            <a:ext cx="3358220" cy="370252"/>
          </a:xfrm>
          <a:custGeom>
            <a:avLst/>
            <a:gdLst>
              <a:gd name="connsiteX0" fmla="*/ 0 w 3714750"/>
              <a:gd name="connsiteY0" fmla="*/ 0 h 1485900"/>
              <a:gd name="connsiteX1" fmla="*/ 3714750 w 3714750"/>
              <a:gd name="connsiteY1" fmla="*/ 0 h 1485900"/>
              <a:gd name="connsiteX2" fmla="*/ 3714750 w 3714750"/>
              <a:gd name="connsiteY2" fmla="*/ 1485900 h 1485900"/>
              <a:gd name="connsiteX3" fmla="*/ 0 w 3714750"/>
              <a:gd name="connsiteY3" fmla="*/ 1485900 h 1485900"/>
              <a:gd name="connsiteX4" fmla="*/ 0 w 3714750"/>
              <a:gd name="connsiteY4" fmla="*/ 0 h 1485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0" h="1485900">
                <a:moveTo>
                  <a:pt x="0" y="0"/>
                </a:moveTo>
                <a:lnTo>
                  <a:pt x="3714750" y="0"/>
                </a:lnTo>
                <a:lnTo>
                  <a:pt x="3714750" y="1485900"/>
                </a:lnTo>
                <a:lnTo>
                  <a:pt x="0" y="1485900"/>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0688" tIns="97536" rIns="170688" bIns="97536" numCol="1" spcCol="1270" anchor="ctr" anchorCtr="0">
            <a:noAutofit/>
          </a:bodyPr>
          <a:lstStyle/>
          <a:p>
            <a:pPr algn="ctr" defTabSz="1066773">
              <a:lnSpc>
                <a:spcPct val="90000"/>
              </a:lnSpc>
              <a:spcBef>
                <a:spcPct val="0"/>
              </a:spcBef>
              <a:spcAft>
                <a:spcPct val="35000"/>
              </a:spcAft>
            </a:pPr>
            <a:r>
              <a:rPr lang="en-US" sz="1400" b="1">
                <a:latin typeface="Arial" panose="020B0604020202020204" pitchFamily="34" charset="0"/>
                <a:cs typeface="Arial" panose="020B0604020202020204" pitchFamily="34" charset="0"/>
              </a:rPr>
              <a:t>Action plan</a:t>
            </a:r>
            <a:endParaRPr lang="vi-VN" sz="1400" b="1">
              <a:latin typeface="Arial" panose="020B0604020202020204" pitchFamily="34" charset="0"/>
              <a:cs typeface="Arial" panose="020B0604020202020204" pitchFamily="34" charset="0"/>
            </a:endParaRPr>
          </a:p>
        </p:txBody>
      </p:sp>
      <p:sp>
        <p:nvSpPr>
          <p:cNvPr id="22" name="Freeform: Shape 21">
            <a:extLst>
              <a:ext uri="{FF2B5EF4-FFF2-40B4-BE49-F238E27FC236}">
                <a16:creationId xmlns:a16="http://schemas.microsoft.com/office/drawing/2014/main" id="{5EEE604E-8ED4-669C-BB77-5F3B7CF0D69B}"/>
              </a:ext>
            </a:extLst>
          </p:cNvPr>
          <p:cNvSpPr/>
          <p:nvPr/>
        </p:nvSpPr>
        <p:spPr>
          <a:xfrm>
            <a:off x="8833778" y="1560715"/>
            <a:ext cx="3358220" cy="370250"/>
          </a:xfrm>
          <a:custGeom>
            <a:avLst/>
            <a:gdLst>
              <a:gd name="connsiteX0" fmla="*/ 0 w 3714750"/>
              <a:gd name="connsiteY0" fmla="*/ 0 h 1485900"/>
              <a:gd name="connsiteX1" fmla="*/ 3714750 w 3714750"/>
              <a:gd name="connsiteY1" fmla="*/ 0 h 1485900"/>
              <a:gd name="connsiteX2" fmla="*/ 3714750 w 3714750"/>
              <a:gd name="connsiteY2" fmla="*/ 1485900 h 1485900"/>
              <a:gd name="connsiteX3" fmla="*/ 0 w 3714750"/>
              <a:gd name="connsiteY3" fmla="*/ 1485900 h 1485900"/>
              <a:gd name="connsiteX4" fmla="*/ 0 w 3714750"/>
              <a:gd name="connsiteY4" fmla="*/ 0 h 1485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0" h="1485900">
                <a:moveTo>
                  <a:pt x="0" y="0"/>
                </a:moveTo>
                <a:lnTo>
                  <a:pt x="3714750" y="0"/>
                </a:lnTo>
                <a:lnTo>
                  <a:pt x="3714750" y="1485900"/>
                </a:lnTo>
                <a:lnTo>
                  <a:pt x="0" y="1485900"/>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0688" tIns="97536" rIns="170688" bIns="97536" numCol="1" spcCol="1270" anchor="ctr" anchorCtr="0">
            <a:noAutofit/>
          </a:bodyPr>
          <a:lstStyle/>
          <a:p>
            <a:pPr algn="ctr" defTabSz="1066773">
              <a:lnSpc>
                <a:spcPct val="90000"/>
              </a:lnSpc>
              <a:spcBef>
                <a:spcPct val="0"/>
              </a:spcBef>
              <a:spcAft>
                <a:spcPct val="35000"/>
              </a:spcAft>
            </a:pPr>
            <a:r>
              <a:rPr lang="en-US" sz="1400" b="1">
                <a:latin typeface="Arial" panose="020B0604020202020204" pitchFamily="34" charset="0"/>
                <a:cs typeface="Arial" panose="020B0604020202020204" pitchFamily="34" charset="0"/>
              </a:rPr>
              <a:t>Metrics</a:t>
            </a:r>
            <a:endParaRPr lang="vi-VN" sz="1400" b="1">
              <a:latin typeface="Arial" panose="020B0604020202020204" pitchFamily="34" charset="0"/>
              <a:cs typeface="Arial" panose="020B0604020202020204" pitchFamily="34" charset="0"/>
            </a:endParaRPr>
          </a:p>
        </p:txBody>
      </p:sp>
      <p:sp>
        <p:nvSpPr>
          <p:cNvPr id="24" name="Freeform: Shape 23">
            <a:extLst>
              <a:ext uri="{FF2B5EF4-FFF2-40B4-BE49-F238E27FC236}">
                <a16:creationId xmlns:a16="http://schemas.microsoft.com/office/drawing/2014/main" id="{DEA723C1-EF27-60C6-111C-561A43447C98}"/>
              </a:ext>
            </a:extLst>
          </p:cNvPr>
          <p:cNvSpPr/>
          <p:nvPr/>
        </p:nvSpPr>
        <p:spPr>
          <a:xfrm>
            <a:off x="5353834" y="1997583"/>
            <a:ext cx="3358221" cy="1499559"/>
          </a:xfrm>
          <a:custGeom>
            <a:avLst/>
            <a:gdLst>
              <a:gd name="connsiteX0" fmla="*/ 0 w 3714750"/>
              <a:gd name="connsiteY0" fmla="*/ 0 h 2854800"/>
              <a:gd name="connsiteX1" fmla="*/ 3714750 w 3714750"/>
              <a:gd name="connsiteY1" fmla="*/ 0 h 2854800"/>
              <a:gd name="connsiteX2" fmla="*/ 3714750 w 3714750"/>
              <a:gd name="connsiteY2" fmla="*/ 2854800 h 2854800"/>
              <a:gd name="connsiteX3" fmla="*/ 0 w 3714750"/>
              <a:gd name="connsiteY3" fmla="*/ 2854800 h 2854800"/>
              <a:gd name="connsiteX4" fmla="*/ 0 w 3714750"/>
              <a:gd name="connsiteY4" fmla="*/ 0 h 285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0" h="2854800">
                <a:moveTo>
                  <a:pt x="0" y="0"/>
                </a:moveTo>
                <a:lnTo>
                  <a:pt x="3714750" y="0"/>
                </a:lnTo>
                <a:lnTo>
                  <a:pt x="3714750" y="2854800"/>
                </a:lnTo>
                <a:lnTo>
                  <a:pt x="0" y="2854800"/>
                </a:lnTo>
                <a:lnTo>
                  <a:pt x="0" y="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85344" tIns="85344" rIns="113792" bIns="128016" numCol="1" spcCol="1270" anchor="t" anchorCtr="0">
            <a:noAutofit/>
          </a:bodyPr>
          <a:lstStyle/>
          <a:p>
            <a:pPr marL="171446" lvl="1" indent="-171446" defTabSz="711182">
              <a:lnSpc>
                <a:spcPct val="90000"/>
              </a:lnSpc>
              <a:spcBef>
                <a:spcPct val="0"/>
              </a:spcBef>
              <a:spcAft>
                <a:spcPct val="15000"/>
              </a:spcAft>
              <a:buFontTx/>
              <a:buChar char="•"/>
            </a:pPr>
            <a:endParaRPr lang="en-US" sz="1300">
              <a:latin typeface="Arial" panose="020B0604020202020204" pitchFamily="34" charset="0"/>
              <a:cs typeface="Arial" panose="020B0604020202020204" pitchFamily="34" charset="0"/>
            </a:endParaRPr>
          </a:p>
          <a:p>
            <a:pPr marL="171446" lvl="1" indent="-171446" defTabSz="711182">
              <a:lnSpc>
                <a:spcPct val="90000"/>
              </a:lnSpc>
              <a:spcBef>
                <a:spcPct val="0"/>
              </a:spcBef>
              <a:spcAft>
                <a:spcPct val="15000"/>
              </a:spcAft>
              <a:buFontTx/>
              <a:buChar char="•"/>
            </a:pPr>
            <a:r>
              <a:rPr lang="en-US" sz="1300"/>
              <a:t>Expand "non-seasonal" product lines (e.g., household goods, stationery)</a:t>
            </a:r>
          </a:p>
          <a:p>
            <a:pPr marL="171446" lvl="1" indent="-171446" defTabSz="711182">
              <a:lnSpc>
                <a:spcPct val="90000"/>
              </a:lnSpc>
              <a:spcBef>
                <a:spcPct val="0"/>
              </a:spcBef>
              <a:spcAft>
                <a:spcPct val="15000"/>
              </a:spcAft>
              <a:buFontTx/>
              <a:buChar char="•"/>
            </a:pPr>
            <a:endParaRPr lang="en-US" sz="1300"/>
          </a:p>
          <a:p>
            <a:pPr marL="171446" lvl="1" indent="-171446" defTabSz="711182">
              <a:lnSpc>
                <a:spcPct val="90000"/>
              </a:lnSpc>
              <a:spcBef>
                <a:spcPct val="0"/>
              </a:spcBef>
              <a:spcAft>
                <a:spcPct val="15000"/>
              </a:spcAft>
              <a:buFontTx/>
              <a:buChar char="•"/>
            </a:pPr>
            <a:endParaRPr lang="en-US" sz="1300"/>
          </a:p>
          <a:p>
            <a:pPr marL="171446" lvl="1" indent="-171446" defTabSz="711182">
              <a:lnSpc>
                <a:spcPct val="90000"/>
              </a:lnSpc>
              <a:spcBef>
                <a:spcPct val="0"/>
              </a:spcBef>
              <a:spcAft>
                <a:spcPct val="15000"/>
              </a:spcAft>
              <a:buFontTx/>
              <a:buChar char="•"/>
            </a:pPr>
            <a:r>
              <a:rPr lang="en-US" sz="1300"/>
              <a:t>Run year-round promotions to create mini-peaks in Q2 &amp; Q3.</a:t>
            </a:r>
            <a:endParaRPr lang="vi-VN" sz="1300">
              <a:latin typeface="Arial" panose="020B0604020202020204" pitchFamily="34" charset="0"/>
              <a:cs typeface="Arial" panose="020B0604020202020204" pitchFamily="34" charset="0"/>
            </a:endParaRPr>
          </a:p>
        </p:txBody>
      </p:sp>
      <p:sp>
        <p:nvSpPr>
          <p:cNvPr id="32" name="Freeform: Shape 31">
            <a:extLst>
              <a:ext uri="{FF2B5EF4-FFF2-40B4-BE49-F238E27FC236}">
                <a16:creationId xmlns:a16="http://schemas.microsoft.com/office/drawing/2014/main" id="{03D87BD3-129E-05D1-C742-5F16FC2759D7}"/>
              </a:ext>
            </a:extLst>
          </p:cNvPr>
          <p:cNvSpPr/>
          <p:nvPr/>
        </p:nvSpPr>
        <p:spPr>
          <a:xfrm>
            <a:off x="5353834" y="3560787"/>
            <a:ext cx="3358221" cy="1569025"/>
          </a:xfrm>
          <a:custGeom>
            <a:avLst/>
            <a:gdLst>
              <a:gd name="connsiteX0" fmla="*/ 0 w 3714750"/>
              <a:gd name="connsiteY0" fmla="*/ 0 h 2854800"/>
              <a:gd name="connsiteX1" fmla="*/ 3714750 w 3714750"/>
              <a:gd name="connsiteY1" fmla="*/ 0 h 2854800"/>
              <a:gd name="connsiteX2" fmla="*/ 3714750 w 3714750"/>
              <a:gd name="connsiteY2" fmla="*/ 2854800 h 2854800"/>
              <a:gd name="connsiteX3" fmla="*/ 0 w 3714750"/>
              <a:gd name="connsiteY3" fmla="*/ 2854800 h 2854800"/>
              <a:gd name="connsiteX4" fmla="*/ 0 w 3714750"/>
              <a:gd name="connsiteY4" fmla="*/ 0 h 285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0" h="2854800">
                <a:moveTo>
                  <a:pt x="0" y="0"/>
                </a:moveTo>
                <a:lnTo>
                  <a:pt x="3714750" y="0"/>
                </a:lnTo>
                <a:lnTo>
                  <a:pt x="3714750" y="2854800"/>
                </a:lnTo>
                <a:lnTo>
                  <a:pt x="0" y="2854800"/>
                </a:lnTo>
                <a:lnTo>
                  <a:pt x="0" y="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85344" tIns="85344" rIns="113792" bIns="128016" numCol="1" spcCol="1270" anchor="t" anchorCtr="0">
            <a:noAutofit/>
          </a:bodyPr>
          <a:lstStyle/>
          <a:p>
            <a:pPr marL="0" lvl="1" defTabSz="711182">
              <a:lnSpc>
                <a:spcPct val="90000"/>
              </a:lnSpc>
              <a:spcBef>
                <a:spcPct val="0"/>
              </a:spcBef>
              <a:spcAft>
                <a:spcPct val="15000"/>
              </a:spcAft>
            </a:pPr>
            <a:endParaRPr lang="en-US" sz="1300">
              <a:latin typeface="Arial" panose="020B0604020202020204" pitchFamily="34" charset="0"/>
              <a:cs typeface="Arial" panose="020B0604020202020204" pitchFamily="34" charset="0"/>
            </a:endParaRPr>
          </a:p>
          <a:p>
            <a:pPr marL="171446" lvl="1" indent="-171446" defTabSz="711182">
              <a:lnSpc>
                <a:spcPct val="90000"/>
              </a:lnSpc>
              <a:spcBef>
                <a:spcPct val="0"/>
              </a:spcBef>
              <a:spcAft>
                <a:spcPct val="15000"/>
              </a:spcAft>
              <a:buFontTx/>
              <a:buChar char="•"/>
            </a:pPr>
            <a:r>
              <a:rPr lang="en-US" sz="1300"/>
              <a:t>Launch SME loyalty program with membership tiers in Q2</a:t>
            </a:r>
          </a:p>
          <a:p>
            <a:pPr marL="171446" lvl="1" indent="-171446" defTabSz="711182">
              <a:lnSpc>
                <a:spcPct val="90000"/>
              </a:lnSpc>
              <a:spcBef>
                <a:spcPct val="0"/>
              </a:spcBef>
              <a:spcAft>
                <a:spcPct val="15000"/>
              </a:spcAft>
              <a:buFontTx/>
              <a:buChar char="•"/>
            </a:pPr>
            <a:endParaRPr lang="en-US" sz="1300"/>
          </a:p>
          <a:p>
            <a:pPr marL="171446" lvl="1" indent="-171446" defTabSz="711182">
              <a:lnSpc>
                <a:spcPct val="90000"/>
              </a:lnSpc>
              <a:spcBef>
                <a:spcPct val="0"/>
              </a:spcBef>
              <a:spcAft>
                <a:spcPct val="15000"/>
              </a:spcAft>
              <a:buFontTx/>
              <a:buChar char="•"/>
            </a:pPr>
            <a:r>
              <a:rPr lang="en-US" sz="1300">
                <a:latin typeface="Arial" panose="020B0604020202020204" pitchFamily="34" charset="0"/>
                <a:cs typeface="Arial" panose="020B0604020202020204" pitchFamily="34" charset="0"/>
              </a:rPr>
              <a:t>Offer bulk purchase discounts for SMEs</a:t>
            </a:r>
          </a:p>
        </p:txBody>
      </p:sp>
      <p:sp>
        <p:nvSpPr>
          <p:cNvPr id="33" name="Freeform: Shape 32">
            <a:extLst>
              <a:ext uri="{FF2B5EF4-FFF2-40B4-BE49-F238E27FC236}">
                <a16:creationId xmlns:a16="http://schemas.microsoft.com/office/drawing/2014/main" id="{41E8B6CB-523B-C408-F3FD-C86F82732599}"/>
              </a:ext>
            </a:extLst>
          </p:cNvPr>
          <p:cNvSpPr/>
          <p:nvPr/>
        </p:nvSpPr>
        <p:spPr>
          <a:xfrm>
            <a:off x="8833779" y="3560787"/>
            <a:ext cx="3358221" cy="1569025"/>
          </a:xfrm>
          <a:custGeom>
            <a:avLst/>
            <a:gdLst>
              <a:gd name="connsiteX0" fmla="*/ 0 w 3714750"/>
              <a:gd name="connsiteY0" fmla="*/ 0 h 2854800"/>
              <a:gd name="connsiteX1" fmla="*/ 3714750 w 3714750"/>
              <a:gd name="connsiteY1" fmla="*/ 0 h 2854800"/>
              <a:gd name="connsiteX2" fmla="*/ 3714750 w 3714750"/>
              <a:gd name="connsiteY2" fmla="*/ 2854800 h 2854800"/>
              <a:gd name="connsiteX3" fmla="*/ 0 w 3714750"/>
              <a:gd name="connsiteY3" fmla="*/ 2854800 h 2854800"/>
              <a:gd name="connsiteX4" fmla="*/ 0 w 3714750"/>
              <a:gd name="connsiteY4" fmla="*/ 0 h 285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0" h="2854800">
                <a:moveTo>
                  <a:pt x="0" y="0"/>
                </a:moveTo>
                <a:lnTo>
                  <a:pt x="3714750" y="0"/>
                </a:lnTo>
                <a:lnTo>
                  <a:pt x="3714750" y="2854800"/>
                </a:lnTo>
                <a:lnTo>
                  <a:pt x="0" y="2854800"/>
                </a:lnTo>
                <a:lnTo>
                  <a:pt x="0" y="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85344" tIns="85344" rIns="113792" bIns="128016" numCol="1" spcCol="1270" anchor="t" anchorCtr="0">
            <a:noAutofit/>
          </a:bodyPr>
          <a:lstStyle/>
          <a:p>
            <a:pPr marL="0" lvl="1" defTabSz="711182">
              <a:lnSpc>
                <a:spcPct val="90000"/>
              </a:lnSpc>
              <a:spcBef>
                <a:spcPct val="0"/>
              </a:spcBef>
              <a:spcAft>
                <a:spcPct val="15000"/>
              </a:spcAft>
            </a:pPr>
            <a:endParaRPr lang="en-US" sz="1300" b="1">
              <a:latin typeface="Arial" panose="020B0604020202020204" pitchFamily="34" charset="0"/>
              <a:cs typeface="Arial" panose="020B0604020202020204" pitchFamily="34" charset="0"/>
            </a:endParaRPr>
          </a:p>
          <a:p>
            <a:pPr marL="171446" lvl="1" indent="-171446" defTabSz="711182">
              <a:lnSpc>
                <a:spcPct val="90000"/>
              </a:lnSpc>
              <a:spcBef>
                <a:spcPct val="0"/>
              </a:spcBef>
              <a:spcAft>
                <a:spcPct val="15000"/>
              </a:spcAft>
              <a:buFontTx/>
              <a:buChar char="•"/>
            </a:pPr>
            <a:r>
              <a:rPr lang="vi-VN" sz="1300">
                <a:latin typeface="Arial" panose="020B0604020202020204" pitchFamily="34" charset="0"/>
                <a:cs typeface="Arial" panose="020B0604020202020204" pitchFamily="34" charset="0"/>
              </a:rPr>
              <a:t>SME repeat purchase rate (%)</a:t>
            </a:r>
            <a:endParaRPr lang="en-US" sz="1300">
              <a:latin typeface="Arial" panose="020B0604020202020204" pitchFamily="34" charset="0"/>
              <a:cs typeface="Arial" panose="020B0604020202020204" pitchFamily="34" charset="0"/>
            </a:endParaRPr>
          </a:p>
          <a:p>
            <a:pPr marL="171446" lvl="1" indent="-171446" defTabSz="711182">
              <a:lnSpc>
                <a:spcPct val="90000"/>
              </a:lnSpc>
              <a:spcBef>
                <a:spcPct val="0"/>
              </a:spcBef>
              <a:spcAft>
                <a:spcPct val="15000"/>
              </a:spcAft>
              <a:buFontTx/>
              <a:buChar char="•"/>
            </a:pPr>
            <a:endParaRPr lang="en-US" sz="1300">
              <a:latin typeface="Arial" panose="020B0604020202020204" pitchFamily="34" charset="0"/>
              <a:cs typeface="Arial" panose="020B0604020202020204" pitchFamily="34" charset="0"/>
            </a:endParaRPr>
          </a:p>
          <a:p>
            <a:pPr marL="171446" lvl="1" indent="-171446" defTabSz="711182">
              <a:lnSpc>
                <a:spcPct val="90000"/>
              </a:lnSpc>
              <a:spcBef>
                <a:spcPct val="0"/>
              </a:spcBef>
              <a:spcAft>
                <a:spcPct val="15000"/>
              </a:spcAft>
              <a:buFontTx/>
              <a:buChar char="•"/>
            </a:pPr>
            <a:endParaRPr lang="en-US" sz="1300">
              <a:latin typeface="Arial" panose="020B0604020202020204" pitchFamily="34" charset="0"/>
              <a:cs typeface="Arial" panose="020B0604020202020204" pitchFamily="34" charset="0"/>
            </a:endParaRPr>
          </a:p>
          <a:p>
            <a:pPr marL="171446" lvl="1" indent="-171446" defTabSz="711182">
              <a:lnSpc>
                <a:spcPct val="90000"/>
              </a:lnSpc>
              <a:spcBef>
                <a:spcPct val="0"/>
              </a:spcBef>
              <a:spcAft>
                <a:spcPct val="15000"/>
              </a:spcAft>
              <a:buFontTx/>
              <a:buChar char="•"/>
            </a:pPr>
            <a:r>
              <a:rPr lang="en-US" sz="1300">
                <a:latin typeface="Arial" panose="020B0604020202020204" pitchFamily="34" charset="0"/>
                <a:cs typeface="Arial" panose="020B0604020202020204" pitchFamily="34" charset="0"/>
              </a:rPr>
              <a:t>Average order value (AOV) SMEs</a:t>
            </a:r>
          </a:p>
          <a:p>
            <a:pPr marL="0" lvl="1" defTabSz="711182">
              <a:lnSpc>
                <a:spcPct val="90000"/>
              </a:lnSpc>
              <a:spcBef>
                <a:spcPct val="0"/>
              </a:spcBef>
              <a:spcAft>
                <a:spcPct val="15000"/>
              </a:spcAft>
            </a:pPr>
            <a:endParaRPr lang="vi-VN" sz="1300">
              <a:latin typeface="Arial" panose="020B0604020202020204" pitchFamily="34" charset="0"/>
              <a:cs typeface="Arial" panose="020B0604020202020204" pitchFamily="34" charset="0"/>
            </a:endParaRPr>
          </a:p>
        </p:txBody>
      </p:sp>
      <p:sp>
        <p:nvSpPr>
          <p:cNvPr id="34" name="Freeform: Shape 33">
            <a:extLst>
              <a:ext uri="{FF2B5EF4-FFF2-40B4-BE49-F238E27FC236}">
                <a16:creationId xmlns:a16="http://schemas.microsoft.com/office/drawing/2014/main" id="{66B26879-33B5-1920-DCD1-A2F1E31D55C1}"/>
              </a:ext>
            </a:extLst>
          </p:cNvPr>
          <p:cNvSpPr/>
          <p:nvPr/>
        </p:nvSpPr>
        <p:spPr>
          <a:xfrm>
            <a:off x="5353833" y="5193457"/>
            <a:ext cx="3358221" cy="1664540"/>
          </a:xfrm>
          <a:custGeom>
            <a:avLst/>
            <a:gdLst>
              <a:gd name="connsiteX0" fmla="*/ 0 w 3714750"/>
              <a:gd name="connsiteY0" fmla="*/ 0 h 2854800"/>
              <a:gd name="connsiteX1" fmla="*/ 3714750 w 3714750"/>
              <a:gd name="connsiteY1" fmla="*/ 0 h 2854800"/>
              <a:gd name="connsiteX2" fmla="*/ 3714750 w 3714750"/>
              <a:gd name="connsiteY2" fmla="*/ 2854800 h 2854800"/>
              <a:gd name="connsiteX3" fmla="*/ 0 w 3714750"/>
              <a:gd name="connsiteY3" fmla="*/ 2854800 h 2854800"/>
              <a:gd name="connsiteX4" fmla="*/ 0 w 3714750"/>
              <a:gd name="connsiteY4" fmla="*/ 0 h 285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0" h="2854800">
                <a:moveTo>
                  <a:pt x="0" y="0"/>
                </a:moveTo>
                <a:lnTo>
                  <a:pt x="3714750" y="0"/>
                </a:lnTo>
                <a:lnTo>
                  <a:pt x="3714750" y="2854800"/>
                </a:lnTo>
                <a:lnTo>
                  <a:pt x="0" y="2854800"/>
                </a:lnTo>
                <a:lnTo>
                  <a:pt x="0" y="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85344" tIns="85344" rIns="113792" bIns="128016" numCol="1" spcCol="1270" anchor="t" anchorCtr="0">
            <a:noAutofit/>
          </a:bodyPr>
          <a:lstStyle/>
          <a:p>
            <a:pPr marL="171446" lvl="1" indent="-171446" defTabSz="711182">
              <a:lnSpc>
                <a:spcPct val="90000"/>
              </a:lnSpc>
              <a:spcBef>
                <a:spcPct val="0"/>
              </a:spcBef>
              <a:spcAft>
                <a:spcPct val="15000"/>
              </a:spcAft>
              <a:buFontTx/>
              <a:buChar char="•"/>
            </a:pPr>
            <a:endParaRPr lang="en-US" sz="1300">
              <a:latin typeface="Arial" panose="020B0604020202020204" pitchFamily="34" charset="0"/>
              <a:cs typeface="Arial" panose="020B0604020202020204" pitchFamily="34" charset="0"/>
            </a:endParaRPr>
          </a:p>
          <a:p>
            <a:pPr marL="171446" lvl="1" indent="-171446" defTabSz="711182">
              <a:lnSpc>
                <a:spcPct val="90000"/>
              </a:lnSpc>
              <a:spcBef>
                <a:spcPct val="0"/>
              </a:spcBef>
              <a:spcAft>
                <a:spcPct val="15000"/>
              </a:spcAft>
              <a:buFontTx/>
              <a:buChar char="•"/>
            </a:pPr>
            <a:r>
              <a:rPr lang="en-US" sz="1300">
                <a:latin typeface="Arial" panose="020B0604020202020204" pitchFamily="34" charset="0"/>
                <a:cs typeface="Arial" panose="020B0604020202020204" pitchFamily="34" charset="0"/>
              </a:rPr>
              <a:t>Incentivize account registration (e.g., voucher on 2nd purchase)</a:t>
            </a:r>
          </a:p>
          <a:p>
            <a:pPr marL="171446" lvl="1" indent="-171446" defTabSz="711182">
              <a:lnSpc>
                <a:spcPct val="90000"/>
              </a:lnSpc>
              <a:spcBef>
                <a:spcPct val="0"/>
              </a:spcBef>
              <a:spcAft>
                <a:spcPct val="15000"/>
              </a:spcAft>
              <a:buFontTx/>
              <a:buChar char="•"/>
            </a:pPr>
            <a:endParaRPr lang="en-US" sz="1300">
              <a:latin typeface="Arial" panose="020B0604020202020204" pitchFamily="34" charset="0"/>
              <a:cs typeface="Arial" panose="020B0604020202020204" pitchFamily="34" charset="0"/>
            </a:endParaRPr>
          </a:p>
          <a:p>
            <a:pPr marL="171446" lvl="1" indent="-171446" defTabSz="711182">
              <a:lnSpc>
                <a:spcPct val="90000"/>
              </a:lnSpc>
              <a:spcBef>
                <a:spcPct val="0"/>
              </a:spcBef>
              <a:spcAft>
                <a:spcPct val="15000"/>
              </a:spcAft>
              <a:buFontTx/>
              <a:buChar char="•"/>
            </a:pPr>
            <a:r>
              <a:rPr lang="vi-VN" sz="1300">
                <a:latin typeface="Arial" panose="020B0604020202020204" pitchFamily="34" charset="0"/>
                <a:cs typeface="Arial" panose="020B0604020202020204" pitchFamily="34" charset="0"/>
              </a:rPr>
              <a:t>Collect &amp; enrich customer data (email, phone)</a:t>
            </a:r>
          </a:p>
          <a:p>
            <a:pPr marL="0" lvl="1" defTabSz="711182">
              <a:lnSpc>
                <a:spcPct val="90000"/>
              </a:lnSpc>
              <a:spcBef>
                <a:spcPct val="0"/>
              </a:spcBef>
              <a:spcAft>
                <a:spcPct val="15000"/>
              </a:spcAft>
            </a:pPr>
            <a:endParaRPr lang="en-US" sz="1300">
              <a:latin typeface="Arial" panose="020B0604020202020204" pitchFamily="34" charset="0"/>
              <a:cs typeface="Arial" panose="020B0604020202020204" pitchFamily="34" charset="0"/>
            </a:endParaRPr>
          </a:p>
        </p:txBody>
      </p:sp>
      <p:sp>
        <p:nvSpPr>
          <p:cNvPr id="35" name="Freeform: Shape 34">
            <a:extLst>
              <a:ext uri="{FF2B5EF4-FFF2-40B4-BE49-F238E27FC236}">
                <a16:creationId xmlns:a16="http://schemas.microsoft.com/office/drawing/2014/main" id="{817D91ED-E816-C9D7-9A47-A3937D390FFB}"/>
              </a:ext>
            </a:extLst>
          </p:cNvPr>
          <p:cNvSpPr/>
          <p:nvPr/>
        </p:nvSpPr>
        <p:spPr>
          <a:xfrm>
            <a:off x="8833777" y="5193457"/>
            <a:ext cx="3358221" cy="1664540"/>
          </a:xfrm>
          <a:custGeom>
            <a:avLst/>
            <a:gdLst>
              <a:gd name="connsiteX0" fmla="*/ 0 w 3714750"/>
              <a:gd name="connsiteY0" fmla="*/ 0 h 2854800"/>
              <a:gd name="connsiteX1" fmla="*/ 3714750 w 3714750"/>
              <a:gd name="connsiteY1" fmla="*/ 0 h 2854800"/>
              <a:gd name="connsiteX2" fmla="*/ 3714750 w 3714750"/>
              <a:gd name="connsiteY2" fmla="*/ 2854800 h 2854800"/>
              <a:gd name="connsiteX3" fmla="*/ 0 w 3714750"/>
              <a:gd name="connsiteY3" fmla="*/ 2854800 h 2854800"/>
              <a:gd name="connsiteX4" fmla="*/ 0 w 3714750"/>
              <a:gd name="connsiteY4" fmla="*/ 0 h 285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0" h="2854800">
                <a:moveTo>
                  <a:pt x="0" y="0"/>
                </a:moveTo>
                <a:lnTo>
                  <a:pt x="3714750" y="0"/>
                </a:lnTo>
                <a:lnTo>
                  <a:pt x="3714750" y="2854800"/>
                </a:lnTo>
                <a:lnTo>
                  <a:pt x="0" y="2854800"/>
                </a:lnTo>
                <a:lnTo>
                  <a:pt x="0" y="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85344" tIns="85344" rIns="113792" bIns="128016" numCol="1" spcCol="1270" anchor="t" anchorCtr="0">
            <a:noAutofit/>
          </a:bodyPr>
          <a:lstStyle/>
          <a:p>
            <a:pPr marL="171446" lvl="1" indent="-171446" defTabSz="711182">
              <a:lnSpc>
                <a:spcPct val="90000"/>
              </a:lnSpc>
              <a:spcBef>
                <a:spcPct val="0"/>
              </a:spcBef>
              <a:spcAft>
                <a:spcPct val="15000"/>
              </a:spcAft>
              <a:buFontTx/>
              <a:buChar char="•"/>
            </a:pPr>
            <a:endParaRPr lang="en-US" sz="1300">
              <a:latin typeface="Arial" panose="020B0604020202020204" pitchFamily="34" charset="0"/>
              <a:cs typeface="Arial" panose="020B0604020202020204" pitchFamily="34" charset="0"/>
            </a:endParaRPr>
          </a:p>
          <a:p>
            <a:pPr marL="171446" lvl="1" indent="-171446" defTabSz="711182">
              <a:lnSpc>
                <a:spcPct val="90000"/>
              </a:lnSpc>
              <a:spcBef>
                <a:spcPct val="0"/>
              </a:spcBef>
              <a:spcAft>
                <a:spcPct val="15000"/>
              </a:spcAft>
              <a:buFontTx/>
              <a:buChar char="•"/>
            </a:pPr>
            <a:r>
              <a:rPr lang="vi-VN" sz="1300">
                <a:latin typeface="Arial" panose="020B0604020202020204" pitchFamily="34" charset="0"/>
                <a:cs typeface="Arial" panose="020B0604020202020204" pitchFamily="34" charset="0"/>
              </a:rPr>
              <a:t>% orders with CustomerID</a:t>
            </a:r>
            <a:endParaRPr lang="en-US" sz="1300">
              <a:latin typeface="Arial" panose="020B0604020202020204" pitchFamily="34" charset="0"/>
              <a:cs typeface="Arial" panose="020B0604020202020204" pitchFamily="34" charset="0"/>
            </a:endParaRPr>
          </a:p>
          <a:p>
            <a:pPr marL="171446" lvl="1" indent="-171446" defTabSz="711182">
              <a:lnSpc>
                <a:spcPct val="90000"/>
              </a:lnSpc>
              <a:spcBef>
                <a:spcPct val="0"/>
              </a:spcBef>
              <a:spcAft>
                <a:spcPct val="15000"/>
              </a:spcAft>
              <a:buFontTx/>
              <a:buChar char="•"/>
            </a:pPr>
            <a:endParaRPr lang="en-US" sz="1300">
              <a:latin typeface="Arial" panose="020B0604020202020204" pitchFamily="34" charset="0"/>
              <a:cs typeface="Arial" panose="020B0604020202020204" pitchFamily="34" charset="0"/>
            </a:endParaRPr>
          </a:p>
          <a:p>
            <a:pPr marL="171446" lvl="1" indent="-171446" defTabSz="711182">
              <a:lnSpc>
                <a:spcPct val="90000"/>
              </a:lnSpc>
              <a:spcBef>
                <a:spcPct val="0"/>
              </a:spcBef>
              <a:spcAft>
                <a:spcPct val="15000"/>
              </a:spcAft>
              <a:buFontTx/>
              <a:buChar char="•"/>
            </a:pPr>
            <a:endParaRPr lang="en-US" sz="1300">
              <a:latin typeface="Arial" panose="020B0604020202020204" pitchFamily="34" charset="0"/>
              <a:cs typeface="Arial" panose="020B0604020202020204" pitchFamily="34" charset="0"/>
            </a:endParaRPr>
          </a:p>
          <a:p>
            <a:pPr marL="171446" lvl="1" indent="-171446" defTabSz="711182">
              <a:lnSpc>
                <a:spcPct val="90000"/>
              </a:lnSpc>
              <a:spcBef>
                <a:spcPct val="0"/>
              </a:spcBef>
              <a:spcAft>
                <a:spcPct val="15000"/>
              </a:spcAft>
              <a:buFontTx/>
              <a:buChar char="•"/>
            </a:pPr>
            <a:r>
              <a:rPr lang="en-US" sz="1300">
                <a:latin typeface="Arial" panose="020B0604020202020204" pitchFamily="34" charset="0"/>
                <a:cs typeface="Arial" panose="020B0604020202020204" pitchFamily="34" charset="0"/>
              </a:rPr>
              <a:t>% of customers with valid contact info</a:t>
            </a:r>
            <a:endParaRPr lang="vi-VN" sz="1300">
              <a:latin typeface="Arial" panose="020B0604020202020204" pitchFamily="34" charset="0"/>
              <a:cs typeface="Arial" panose="020B0604020202020204" pitchFamily="34" charset="0"/>
            </a:endParaRPr>
          </a:p>
        </p:txBody>
      </p:sp>
      <p:pic>
        <p:nvPicPr>
          <p:cNvPr id="3" name="Graphic 2" descr="Star with solid fill">
            <a:extLst>
              <a:ext uri="{FF2B5EF4-FFF2-40B4-BE49-F238E27FC236}">
                <a16:creationId xmlns:a16="http://schemas.microsoft.com/office/drawing/2014/main" id="{C7ADE5FF-45D6-1CB8-739A-C408459FA7A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35771" y="4704437"/>
            <a:ext cx="457200" cy="457200"/>
          </a:xfrm>
          <a:prstGeom prst="rect">
            <a:avLst/>
          </a:prstGeom>
        </p:spPr>
      </p:pic>
    </p:spTree>
    <p:extLst>
      <p:ext uri="{BB962C8B-B14F-4D97-AF65-F5344CB8AC3E}">
        <p14:creationId xmlns:p14="http://schemas.microsoft.com/office/powerpoint/2010/main" val="1903000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82BEDE2F-A42A-92F3-A716-A1BE0224473A}"/>
              </a:ext>
            </a:extLst>
          </p:cNvPr>
          <p:cNvSpPr/>
          <p:nvPr/>
        </p:nvSpPr>
        <p:spPr>
          <a:xfrm>
            <a:off x="0" y="0"/>
            <a:ext cx="12192000" cy="1063172"/>
          </a:xfrm>
          <a:custGeom>
            <a:avLst/>
            <a:gdLst>
              <a:gd name="connsiteX0" fmla="*/ 0 w 3714750"/>
              <a:gd name="connsiteY0" fmla="*/ 0 h 1485900"/>
              <a:gd name="connsiteX1" fmla="*/ 3714750 w 3714750"/>
              <a:gd name="connsiteY1" fmla="*/ 0 h 1485900"/>
              <a:gd name="connsiteX2" fmla="*/ 3714750 w 3714750"/>
              <a:gd name="connsiteY2" fmla="*/ 1485900 h 1485900"/>
              <a:gd name="connsiteX3" fmla="*/ 0 w 3714750"/>
              <a:gd name="connsiteY3" fmla="*/ 1485900 h 1485900"/>
              <a:gd name="connsiteX4" fmla="*/ 0 w 3714750"/>
              <a:gd name="connsiteY4" fmla="*/ 0 h 1485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0" h="1485900">
                <a:moveTo>
                  <a:pt x="0" y="0"/>
                </a:moveTo>
                <a:lnTo>
                  <a:pt x="3714750" y="0"/>
                </a:lnTo>
                <a:lnTo>
                  <a:pt x="3714750" y="1485900"/>
                </a:lnTo>
                <a:lnTo>
                  <a:pt x="0" y="1485900"/>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0688" tIns="97536" rIns="170688" bIns="97536" numCol="1" spcCol="1270" anchor="ctr" anchorCtr="0">
            <a:noAutofit/>
          </a:bodyPr>
          <a:lstStyle/>
          <a:p>
            <a:pPr defTabSz="1066773">
              <a:lnSpc>
                <a:spcPct val="90000"/>
              </a:lnSpc>
              <a:spcBef>
                <a:spcPct val="0"/>
              </a:spcBef>
              <a:spcAft>
                <a:spcPct val="35000"/>
              </a:spcAft>
            </a:pPr>
            <a:r>
              <a:rPr lang="en-US" sz="3600" b="1">
                <a:latin typeface="Arial" panose="020B0604020202020204" pitchFamily="34" charset="0"/>
                <a:cs typeface="Arial" panose="020B0604020202020204" pitchFamily="34" charset="0"/>
              </a:rPr>
              <a:t>UK accounts for ~85% of total revenue</a:t>
            </a:r>
            <a:endParaRPr lang="vi-VN" sz="3600" b="1">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9EDFC6F0-2838-7888-943D-C026426AB8E3}"/>
              </a:ext>
            </a:extLst>
          </p:cNvPr>
          <p:cNvSpPr txBox="1"/>
          <p:nvPr/>
        </p:nvSpPr>
        <p:spPr>
          <a:xfrm>
            <a:off x="0" y="6004125"/>
            <a:ext cx="12192000" cy="923330"/>
          </a:xfrm>
          <a:prstGeom prst="rect">
            <a:avLst/>
          </a:prstGeom>
          <a:noFill/>
        </p:spPr>
        <p:txBody>
          <a:bodyPr wrap="square">
            <a:spAutoFit/>
          </a:bodyPr>
          <a:lstStyle/>
          <a:p>
            <a:pPr algn="just"/>
            <a:r>
              <a:rPr lang="en-US">
                <a:latin typeface="Arial" panose="020B0604020202020204" pitchFamily="34" charset="0"/>
                <a:cs typeface="Arial" panose="020B0604020202020204" pitchFamily="34" charset="0"/>
              </a:rPr>
              <a:t>To illustrate the conclusion regarding the UK market's dominance </a:t>
            </a:r>
            <a:r>
              <a:rPr lang="en-US" b="1">
                <a:latin typeface="Arial" panose="020B0604020202020204" pitchFamily="34" charset="0"/>
                <a:cs typeface="Arial" panose="020B0604020202020204" pitchFamily="34" charset="0"/>
              </a:rPr>
              <a:t>(Shared reality Appendix)</a:t>
            </a:r>
            <a:r>
              <a:rPr lang="en-US">
                <a:latin typeface="Arial" panose="020B0604020202020204" pitchFamily="34" charset="0"/>
                <a:cs typeface="Arial" panose="020B0604020202020204" pitchFamily="34" charset="0"/>
              </a:rPr>
              <a:t>, this chart shows that revenue from the United Kingdom overwhelmingly surpasses all other countries, accounting for approximately 85% of total revenue.</a:t>
            </a:r>
            <a:endParaRPr lang="vi-VN">
              <a:latin typeface="Arial" panose="020B0604020202020204" pitchFamily="34" charset="0"/>
              <a:cs typeface="Arial" panose="020B0604020202020204" pitchFamily="34" charset="0"/>
            </a:endParaRPr>
          </a:p>
        </p:txBody>
      </p:sp>
      <p:pic>
        <p:nvPicPr>
          <p:cNvPr id="10" name="Picture 9" descr="A graph with a purple line&#10;&#10;AI-generated content may be incorrect.">
            <a:extLst>
              <a:ext uri="{FF2B5EF4-FFF2-40B4-BE49-F238E27FC236}">
                <a16:creationId xmlns:a16="http://schemas.microsoft.com/office/drawing/2014/main" id="{34F1749B-253E-19FE-69B8-20177B1F6F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8240" y="1063172"/>
            <a:ext cx="9875520" cy="4973036"/>
          </a:xfrm>
          <a:prstGeom prst="rect">
            <a:avLst/>
          </a:prstGeom>
        </p:spPr>
      </p:pic>
    </p:spTree>
    <p:extLst>
      <p:ext uri="{BB962C8B-B14F-4D97-AF65-F5344CB8AC3E}">
        <p14:creationId xmlns:p14="http://schemas.microsoft.com/office/powerpoint/2010/main" val="637876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C8F69-3332-B596-7725-4A885910FE6E}"/>
            </a:ext>
          </a:extLst>
        </p:cNvPr>
        <p:cNvGrpSpPr/>
        <p:nvPr/>
      </p:nvGrpSpPr>
      <p:grpSpPr>
        <a:xfrm>
          <a:off x="0" y="0"/>
          <a:ext cx="0" cy="0"/>
          <a:chOff x="0" y="0"/>
          <a:chExt cx="0" cy="0"/>
        </a:xfrm>
      </p:grpSpPr>
      <p:sp>
        <p:nvSpPr>
          <p:cNvPr id="4" name="Freeform: Shape 3">
            <a:extLst>
              <a:ext uri="{FF2B5EF4-FFF2-40B4-BE49-F238E27FC236}">
                <a16:creationId xmlns:a16="http://schemas.microsoft.com/office/drawing/2014/main" id="{A214AA1D-91F4-44CE-251A-65C6E6B2818F}"/>
              </a:ext>
            </a:extLst>
          </p:cNvPr>
          <p:cNvSpPr/>
          <p:nvPr/>
        </p:nvSpPr>
        <p:spPr>
          <a:xfrm>
            <a:off x="0" y="0"/>
            <a:ext cx="12192000" cy="1063172"/>
          </a:xfrm>
          <a:custGeom>
            <a:avLst/>
            <a:gdLst>
              <a:gd name="connsiteX0" fmla="*/ 0 w 3714750"/>
              <a:gd name="connsiteY0" fmla="*/ 0 h 1485900"/>
              <a:gd name="connsiteX1" fmla="*/ 3714750 w 3714750"/>
              <a:gd name="connsiteY1" fmla="*/ 0 h 1485900"/>
              <a:gd name="connsiteX2" fmla="*/ 3714750 w 3714750"/>
              <a:gd name="connsiteY2" fmla="*/ 1485900 h 1485900"/>
              <a:gd name="connsiteX3" fmla="*/ 0 w 3714750"/>
              <a:gd name="connsiteY3" fmla="*/ 1485900 h 1485900"/>
              <a:gd name="connsiteX4" fmla="*/ 0 w 3714750"/>
              <a:gd name="connsiteY4" fmla="*/ 0 h 1485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0" h="1485900">
                <a:moveTo>
                  <a:pt x="0" y="0"/>
                </a:moveTo>
                <a:lnTo>
                  <a:pt x="3714750" y="0"/>
                </a:lnTo>
                <a:lnTo>
                  <a:pt x="3714750" y="1485900"/>
                </a:lnTo>
                <a:lnTo>
                  <a:pt x="0" y="1485900"/>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0688" tIns="97536" rIns="170688" bIns="97536" numCol="1" spcCol="1270" anchor="ctr" anchorCtr="0">
            <a:noAutofit/>
          </a:bodyPr>
          <a:lstStyle/>
          <a:p>
            <a:pPr defTabSz="1066773">
              <a:lnSpc>
                <a:spcPct val="90000"/>
              </a:lnSpc>
              <a:spcBef>
                <a:spcPct val="0"/>
              </a:spcBef>
              <a:spcAft>
                <a:spcPct val="35000"/>
              </a:spcAft>
            </a:pPr>
            <a:r>
              <a:rPr lang="en-US" sz="3600" b="1">
                <a:latin typeface="Arial" panose="020B0604020202020204" pitchFamily="34" charset="0"/>
                <a:cs typeface="Arial" panose="020B0604020202020204" pitchFamily="34" charset="0"/>
              </a:rPr>
              <a:t>Q4 contributes ~38% of annual revenue (strong seasonality)</a:t>
            </a:r>
            <a:endParaRPr lang="vi-VN" sz="3600" b="1">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136F16D4-E3F1-2969-EB9C-5D3307B303A2}"/>
              </a:ext>
            </a:extLst>
          </p:cNvPr>
          <p:cNvSpPr txBox="1"/>
          <p:nvPr/>
        </p:nvSpPr>
        <p:spPr>
          <a:xfrm>
            <a:off x="0" y="6036208"/>
            <a:ext cx="12192000" cy="646331"/>
          </a:xfrm>
          <a:prstGeom prst="rect">
            <a:avLst/>
          </a:prstGeom>
          <a:noFill/>
        </p:spPr>
        <p:txBody>
          <a:bodyPr wrap="square">
            <a:spAutoFit/>
          </a:bodyPr>
          <a:lstStyle/>
          <a:p>
            <a:pPr algn="just"/>
            <a:r>
              <a:rPr lang="en-US"/>
              <a:t>This monthly revenue trend chart provides clear evidence of the "Seasonality Risk" </a:t>
            </a:r>
            <a:r>
              <a:rPr lang="en-US" b="1"/>
              <a:t>(Shared reality Appendix)</a:t>
            </a:r>
            <a:r>
              <a:rPr lang="en-US"/>
              <a:t>, showing a dramatic revenue spike in Q4, primarily driven by Christmas shopping demand.</a:t>
            </a:r>
            <a:endParaRPr lang="vi-VN">
              <a:latin typeface="Arial" panose="020B0604020202020204" pitchFamily="34" charset="0"/>
              <a:cs typeface="Arial" panose="020B0604020202020204" pitchFamily="34" charset="0"/>
            </a:endParaRPr>
          </a:p>
        </p:txBody>
      </p:sp>
      <p:pic>
        <p:nvPicPr>
          <p:cNvPr id="10" name="Picture 9" descr="A graph of a bar chart&#10;&#10;AI-generated content may be incorrect.">
            <a:extLst>
              <a:ext uri="{FF2B5EF4-FFF2-40B4-BE49-F238E27FC236}">
                <a16:creationId xmlns:a16="http://schemas.microsoft.com/office/drawing/2014/main" id="{B913BFC8-F745-DE6E-48D5-74FE1B1D22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3841" y="1156690"/>
            <a:ext cx="10084318" cy="4879518"/>
          </a:xfrm>
          <a:prstGeom prst="rect">
            <a:avLst/>
          </a:prstGeom>
        </p:spPr>
      </p:pic>
    </p:spTree>
    <p:extLst>
      <p:ext uri="{BB962C8B-B14F-4D97-AF65-F5344CB8AC3E}">
        <p14:creationId xmlns:p14="http://schemas.microsoft.com/office/powerpoint/2010/main" val="3619579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DAC41-681C-D59A-E61E-B204FE65DEE8}"/>
            </a:ext>
          </a:extLst>
        </p:cNvPr>
        <p:cNvGrpSpPr/>
        <p:nvPr/>
      </p:nvGrpSpPr>
      <p:grpSpPr>
        <a:xfrm>
          <a:off x="0" y="0"/>
          <a:ext cx="0" cy="0"/>
          <a:chOff x="0" y="0"/>
          <a:chExt cx="0" cy="0"/>
        </a:xfrm>
      </p:grpSpPr>
      <p:sp>
        <p:nvSpPr>
          <p:cNvPr id="4" name="Freeform: Shape 3">
            <a:extLst>
              <a:ext uri="{FF2B5EF4-FFF2-40B4-BE49-F238E27FC236}">
                <a16:creationId xmlns:a16="http://schemas.microsoft.com/office/drawing/2014/main" id="{CAEDA5FE-3C69-6ED2-4426-FF4B4C1D5938}"/>
              </a:ext>
            </a:extLst>
          </p:cNvPr>
          <p:cNvSpPr/>
          <p:nvPr/>
        </p:nvSpPr>
        <p:spPr>
          <a:xfrm>
            <a:off x="0" y="0"/>
            <a:ext cx="12192000" cy="1063172"/>
          </a:xfrm>
          <a:custGeom>
            <a:avLst/>
            <a:gdLst>
              <a:gd name="connsiteX0" fmla="*/ 0 w 3714750"/>
              <a:gd name="connsiteY0" fmla="*/ 0 h 1485900"/>
              <a:gd name="connsiteX1" fmla="*/ 3714750 w 3714750"/>
              <a:gd name="connsiteY1" fmla="*/ 0 h 1485900"/>
              <a:gd name="connsiteX2" fmla="*/ 3714750 w 3714750"/>
              <a:gd name="connsiteY2" fmla="*/ 1485900 h 1485900"/>
              <a:gd name="connsiteX3" fmla="*/ 0 w 3714750"/>
              <a:gd name="connsiteY3" fmla="*/ 1485900 h 1485900"/>
              <a:gd name="connsiteX4" fmla="*/ 0 w 3714750"/>
              <a:gd name="connsiteY4" fmla="*/ 0 h 1485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0" h="1485900">
                <a:moveTo>
                  <a:pt x="0" y="0"/>
                </a:moveTo>
                <a:lnTo>
                  <a:pt x="3714750" y="0"/>
                </a:lnTo>
                <a:lnTo>
                  <a:pt x="3714750" y="1485900"/>
                </a:lnTo>
                <a:lnTo>
                  <a:pt x="0" y="1485900"/>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0688" tIns="97536" rIns="170688" bIns="97536" numCol="1" spcCol="1270" anchor="ctr" anchorCtr="0">
            <a:noAutofit/>
          </a:bodyPr>
          <a:lstStyle/>
          <a:p>
            <a:pPr defTabSz="1066773">
              <a:lnSpc>
                <a:spcPct val="90000"/>
              </a:lnSpc>
              <a:spcBef>
                <a:spcPct val="0"/>
              </a:spcBef>
              <a:spcAft>
                <a:spcPct val="35000"/>
              </a:spcAft>
            </a:pPr>
            <a:r>
              <a:rPr lang="en-US" sz="3600" b="1">
                <a:latin typeface="Arial" panose="020B0604020202020204" pitchFamily="34" charset="0"/>
                <a:cs typeface="Arial" panose="020B0604020202020204" pitchFamily="34" charset="0"/>
              </a:rPr>
              <a:t>~25% of transactions lack CustomerID (identification gap)</a:t>
            </a:r>
            <a:endParaRPr lang="vi-VN" sz="3600" b="1">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9E160AE1-6AEE-64C0-E8AD-BC7A80726F25}"/>
              </a:ext>
            </a:extLst>
          </p:cNvPr>
          <p:cNvSpPr txBox="1"/>
          <p:nvPr/>
        </p:nvSpPr>
        <p:spPr>
          <a:xfrm>
            <a:off x="6244936" y="2690336"/>
            <a:ext cx="5947064" cy="1477328"/>
          </a:xfrm>
          <a:prstGeom prst="rect">
            <a:avLst/>
          </a:prstGeom>
          <a:noFill/>
        </p:spPr>
        <p:txBody>
          <a:bodyPr wrap="square">
            <a:spAutoFit/>
          </a:bodyPr>
          <a:lstStyle/>
          <a:p>
            <a:pPr algn="just"/>
            <a:r>
              <a:rPr lang="en-US"/>
              <a:t>This chart highlights the "Customer Identification Gap" </a:t>
            </a:r>
            <a:r>
              <a:rPr lang="en-US" b="1"/>
              <a:t>(Shared reality Appendix)</a:t>
            </a:r>
            <a:r>
              <a:rPr lang="en-US"/>
              <a:t>. Approximately a quarter of all transactions are missing a CustomerID, which poses a significant challenge for deeper analysis of customer behavior and loyalty.</a:t>
            </a:r>
            <a:endParaRPr lang="vi-VN">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AC5CD2C8-8476-F1AB-7D0E-277218BAA5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63172"/>
            <a:ext cx="5947066" cy="5794828"/>
          </a:xfrm>
          <a:prstGeom prst="rect">
            <a:avLst/>
          </a:prstGeom>
        </p:spPr>
      </p:pic>
    </p:spTree>
    <p:extLst>
      <p:ext uri="{BB962C8B-B14F-4D97-AF65-F5344CB8AC3E}">
        <p14:creationId xmlns:p14="http://schemas.microsoft.com/office/powerpoint/2010/main" val="19711345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F64F3-AD8E-25AA-989E-7B6A133E75AC}"/>
            </a:ext>
          </a:extLst>
        </p:cNvPr>
        <p:cNvGrpSpPr/>
        <p:nvPr/>
      </p:nvGrpSpPr>
      <p:grpSpPr>
        <a:xfrm>
          <a:off x="0" y="0"/>
          <a:ext cx="0" cy="0"/>
          <a:chOff x="0" y="0"/>
          <a:chExt cx="0" cy="0"/>
        </a:xfrm>
      </p:grpSpPr>
      <p:sp>
        <p:nvSpPr>
          <p:cNvPr id="4" name="Freeform: Shape 3">
            <a:extLst>
              <a:ext uri="{FF2B5EF4-FFF2-40B4-BE49-F238E27FC236}">
                <a16:creationId xmlns:a16="http://schemas.microsoft.com/office/drawing/2014/main" id="{FB6EC419-E0AF-837C-ACD1-9B08E4EC5551}"/>
              </a:ext>
            </a:extLst>
          </p:cNvPr>
          <p:cNvSpPr/>
          <p:nvPr/>
        </p:nvSpPr>
        <p:spPr>
          <a:xfrm>
            <a:off x="0" y="0"/>
            <a:ext cx="12192000" cy="1063172"/>
          </a:xfrm>
          <a:custGeom>
            <a:avLst/>
            <a:gdLst>
              <a:gd name="connsiteX0" fmla="*/ 0 w 3714750"/>
              <a:gd name="connsiteY0" fmla="*/ 0 h 1485900"/>
              <a:gd name="connsiteX1" fmla="*/ 3714750 w 3714750"/>
              <a:gd name="connsiteY1" fmla="*/ 0 h 1485900"/>
              <a:gd name="connsiteX2" fmla="*/ 3714750 w 3714750"/>
              <a:gd name="connsiteY2" fmla="*/ 1485900 h 1485900"/>
              <a:gd name="connsiteX3" fmla="*/ 0 w 3714750"/>
              <a:gd name="connsiteY3" fmla="*/ 1485900 h 1485900"/>
              <a:gd name="connsiteX4" fmla="*/ 0 w 3714750"/>
              <a:gd name="connsiteY4" fmla="*/ 0 h 1485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0" h="1485900">
                <a:moveTo>
                  <a:pt x="0" y="0"/>
                </a:moveTo>
                <a:lnTo>
                  <a:pt x="3714750" y="0"/>
                </a:lnTo>
                <a:lnTo>
                  <a:pt x="3714750" y="1485900"/>
                </a:lnTo>
                <a:lnTo>
                  <a:pt x="0" y="1485900"/>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0688" tIns="97536" rIns="170688" bIns="97536" numCol="1" spcCol="1270" anchor="ctr" anchorCtr="0">
            <a:noAutofit/>
          </a:bodyPr>
          <a:lstStyle/>
          <a:p>
            <a:pPr defTabSz="1066773">
              <a:lnSpc>
                <a:spcPct val="90000"/>
              </a:lnSpc>
              <a:spcBef>
                <a:spcPct val="0"/>
              </a:spcBef>
              <a:spcAft>
                <a:spcPct val="35000"/>
              </a:spcAft>
            </a:pPr>
            <a:r>
              <a:rPr lang="en-US" sz="3600" b="1">
                <a:latin typeface="Arial" panose="020B0604020202020204" pitchFamily="34" charset="0"/>
                <a:cs typeface="Arial" panose="020B0604020202020204" pitchFamily="34" charset="0"/>
              </a:rPr>
              <a:t>Q4 vs. Rest of Year: Q4 = 38% revenue share</a:t>
            </a:r>
            <a:endParaRPr lang="vi-VN" sz="3600" b="1">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AF29ED89-2FA7-17BB-6513-89ED32AAAB3B}"/>
              </a:ext>
            </a:extLst>
          </p:cNvPr>
          <p:cNvSpPr txBox="1"/>
          <p:nvPr/>
        </p:nvSpPr>
        <p:spPr>
          <a:xfrm>
            <a:off x="6096000" y="2690336"/>
            <a:ext cx="5947065" cy="1477328"/>
          </a:xfrm>
          <a:prstGeom prst="rect">
            <a:avLst/>
          </a:prstGeom>
          <a:noFill/>
        </p:spPr>
        <p:txBody>
          <a:bodyPr wrap="square">
            <a:spAutoFit/>
          </a:bodyPr>
          <a:lstStyle/>
          <a:p>
            <a:pPr algn="just"/>
            <a:r>
              <a:rPr lang="en-US">
                <a:latin typeface="Arial" panose="020B0604020202020204" pitchFamily="34" charset="0"/>
                <a:cs typeface="Arial" panose="020B0604020202020204" pitchFamily="34" charset="0"/>
              </a:rPr>
              <a:t>To further clarify the baseline metrics for the Growth Plan </a:t>
            </a:r>
            <a:r>
              <a:rPr lang="en-US" b="1">
                <a:latin typeface="Arial" panose="020B0604020202020204" pitchFamily="34" charset="0"/>
                <a:cs typeface="Arial" panose="020B0604020202020204" pitchFamily="34" charset="0"/>
              </a:rPr>
              <a:t>(OSGM Appendix)</a:t>
            </a:r>
            <a:r>
              <a:rPr lang="en-US">
                <a:latin typeface="Arial" panose="020B0604020202020204" pitchFamily="34" charset="0"/>
                <a:cs typeface="Arial" panose="020B0604020202020204" pitchFamily="34" charset="0"/>
              </a:rPr>
              <a:t>, this pie chart visualizes the revenue share. It highlights the significant seasonality, showing that 37.5% of the total annual revenue is generated in Q4 alone.</a:t>
            </a:r>
            <a:endParaRPr lang="vi-VN">
              <a:latin typeface="Arial" panose="020B0604020202020204" pitchFamily="34" charset="0"/>
              <a:cs typeface="Arial" panose="020B0604020202020204" pitchFamily="34" charset="0"/>
            </a:endParaRPr>
          </a:p>
        </p:txBody>
      </p:sp>
      <p:pic>
        <p:nvPicPr>
          <p:cNvPr id="5" name="Picture 4" descr="A pie chart with numbers and a couple of people&#10;&#10;AI-generated content may be incorrect.">
            <a:extLst>
              <a:ext uri="{FF2B5EF4-FFF2-40B4-BE49-F238E27FC236}">
                <a16:creationId xmlns:a16="http://schemas.microsoft.com/office/drawing/2014/main" id="{60765BD1-66BD-BC0D-0646-2EF236FE78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38773"/>
            <a:ext cx="6096000" cy="4703783"/>
          </a:xfrm>
          <a:prstGeom prst="rect">
            <a:avLst/>
          </a:prstGeom>
        </p:spPr>
      </p:pic>
    </p:spTree>
    <p:extLst>
      <p:ext uri="{BB962C8B-B14F-4D97-AF65-F5344CB8AC3E}">
        <p14:creationId xmlns:p14="http://schemas.microsoft.com/office/powerpoint/2010/main" val="18039166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B3BAD-5E23-A42D-586F-F7F0A4D39BD5}"/>
            </a:ext>
          </a:extLst>
        </p:cNvPr>
        <p:cNvGrpSpPr/>
        <p:nvPr/>
      </p:nvGrpSpPr>
      <p:grpSpPr>
        <a:xfrm>
          <a:off x="0" y="0"/>
          <a:ext cx="0" cy="0"/>
          <a:chOff x="0" y="0"/>
          <a:chExt cx="0" cy="0"/>
        </a:xfrm>
      </p:grpSpPr>
      <p:sp>
        <p:nvSpPr>
          <p:cNvPr id="4" name="Freeform: Shape 3">
            <a:extLst>
              <a:ext uri="{FF2B5EF4-FFF2-40B4-BE49-F238E27FC236}">
                <a16:creationId xmlns:a16="http://schemas.microsoft.com/office/drawing/2014/main" id="{BB3FD7D6-6652-7C55-1DB2-C08025CFEAFC}"/>
              </a:ext>
            </a:extLst>
          </p:cNvPr>
          <p:cNvSpPr/>
          <p:nvPr/>
        </p:nvSpPr>
        <p:spPr>
          <a:xfrm>
            <a:off x="0" y="0"/>
            <a:ext cx="12192000" cy="1063172"/>
          </a:xfrm>
          <a:custGeom>
            <a:avLst/>
            <a:gdLst>
              <a:gd name="connsiteX0" fmla="*/ 0 w 3714750"/>
              <a:gd name="connsiteY0" fmla="*/ 0 h 1485900"/>
              <a:gd name="connsiteX1" fmla="*/ 3714750 w 3714750"/>
              <a:gd name="connsiteY1" fmla="*/ 0 h 1485900"/>
              <a:gd name="connsiteX2" fmla="*/ 3714750 w 3714750"/>
              <a:gd name="connsiteY2" fmla="*/ 1485900 h 1485900"/>
              <a:gd name="connsiteX3" fmla="*/ 0 w 3714750"/>
              <a:gd name="connsiteY3" fmla="*/ 1485900 h 1485900"/>
              <a:gd name="connsiteX4" fmla="*/ 0 w 3714750"/>
              <a:gd name="connsiteY4" fmla="*/ 0 h 1485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0" h="1485900">
                <a:moveTo>
                  <a:pt x="0" y="0"/>
                </a:moveTo>
                <a:lnTo>
                  <a:pt x="3714750" y="0"/>
                </a:lnTo>
                <a:lnTo>
                  <a:pt x="3714750" y="1485900"/>
                </a:lnTo>
                <a:lnTo>
                  <a:pt x="0" y="1485900"/>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0688" tIns="97536" rIns="170688" bIns="97536" numCol="1" spcCol="1270" anchor="ctr" anchorCtr="0">
            <a:noAutofit/>
          </a:bodyPr>
          <a:lstStyle/>
          <a:p>
            <a:pPr defTabSz="1066773">
              <a:lnSpc>
                <a:spcPct val="90000"/>
              </a:lnSpc>
              <a:spcBef>
                <a:spcPct val="0"/>
              </a:spcBef>
              <a:spcAft>
                <a:spcPct val="35000"/>
              </a:spcAft>
            </a:pPr>
            <a:r>
              <a:rPr lang="en-US" sz="3600" b="1"/>
              <a:t>Top 27% customers generate ~80% of total revenue (Pareto)</a:t>
            </a:r>
            <a:endParaRPr lang="vi-VN" sz="3600" b="1">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E3BBDB12-FF67-F32C-BB42-F2B87DA99885}"/>
              </a:ext>
            </a:extLst>
          </p:cNvPr>
          <p:cNvSpPr txBox="1"/>
          <p:nvPr/>
        </p:nvSpPr>
        <p:spPr>
          <a:xfrm>
            <a:off x="0" y="5811016"/>
            <a:ext cx="12192000" cy="923330"/>
          </a:xfrm>
          <a:prstGeom prst="rect">
            <a:avLst/>
          </a:prstGeom>
          <a:noFill/>
        </p:spPr>
        <p:txBody>
          <a:bodyPr wrap="square">
            <a:spAutoFit/>
          </a:bodyPr>
          <a:lstStyle/>
          <a:p>
            <a:pPr algn="just"/>
            <a:r>
              <a:rPr lang="en-US"/>
              <a:t>This Pareto analysis reinforces the conclusion that SMEs are the "Key Revenue Drivers" </a:t>
            </a:r>
            <a:r>
              <a:rPr lang="en-US" b="1"/>
              <a:t>(Shared reality Appendix)</a:t>
            </a:r>
            <a:r>
              <a:rPr lang="en-US"/>
              <a:t>. The chart demonstrates that a small group of top customers (approx. 27%) generates the vast majority of revenue (80%), emphasizing the importance of their retention.</a:t>
            </a:r>
            <a:endParaRPr lang="vi-VN">
              <a:latin typeface="Arial" panose="020B0604020202020204" pitchFamily="34" charset="0"/>
              <a:cs typeface="Arial" panose="020B0604020202020204" pitchFamily="34" charset="0"/>
            </a:endParaRPr>
          </a:p>
        </p:txBody>
      </p:sp>
      <p:pic>
        <p:nvPicPr>
          <p:cNvPr id="3" name="Picture 2" descr="A graph with a blue line&#10;&#10;AI-generated content may be incorrect.">
            <a:extLst>
              <a:ext uri="{FF2B5EF4-FFF2-40B4-BE49-F238E27FC236}">
                <a16:creationId xmlns:a16="http://schemas.microsoft.com/office/drawing/2014/main" id="{6CA742E2-8A71-AF23-6DF9-DBC81E673A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7484" y="1106666"/>
            <a:ext cx="9157031" cy="4644667"/>
          </a:xfrm>
          <a:prstGeom prst="rect">
            <a:avLst/>
          </a:prstGeom>
        </p:spPr>
      </p:pic>
    </p:spTree>
    <p:extLst>
      <p:ext uri="{BB962C8B-B14F-4D97-AF65-F5344CB8AC3E}">
        <p14:creationId xmlns:p14="http://schemas.microsoft.com/office/powerpoint/2010/main" val="16006129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0F38E-76A8-C3B1-6B52-78B93C42287F}"/>
            </a:ext>
          </a:extLst>
        </p:cNvPr>
        <p:cNvGrpSpPr/>
        <p:nvPr/>
      </p:nvGrpSpPr>
      <p:grpSpPr>
        <a:xfrm>
          <a:off x="0" y="0"/>
          <a:ext cx="0" cy="0"/>
          <a:chOff x="0" y="0"/>
          <a:chExt cx="0" cy="0"/>
        </a:xfrm>
      </p:grpSpPr>
      <p:sp>
        <p:nvSpPr>
          <p:cNvPr id="4" name="Freeform: Shape 3">
            <a:extLst>
              <a:ext uri="{FF2B5EF4-FFF2-40B4-BE49-F238E27FC236}">
                <a16:creationId xmlns:a16="http://schemas.microsoft.com/office/drawing/2014/main" id="{69C04C3F-DFF4-D981-7FB5-D934C59D328F}"/>
              </a:ext>
            </a:extLst>
          </p:cNvPr>
          <p:cNvSpPr/>
          <p:nvPr/>
        </p:nvSpPr>
        <p:spPr>
          <a:xfrm>
            <a:off x="0" y="0"/>
            <a:ext cx="12192000" cy="1063172"/>
          </a:xfrm>
          <a:custGeom>
            <a:avLst/>
            <a:gdLst>
              <a:gd name="connsiteX0" fmla="*/ 0 w 3714750"/>
              <a:gd name="connsiteY0" fmla="*/ 0 h 1485900"/>
              <a:gd name="connsiteX1" fmla="*/ 3714750 w 3714750"/>
              <a:gd name="connsiteY1" fmla="*/ 0 h 1485900"/>
              <a:gd name="connsiteX2" fmla="*/ 3714750 w 3714750"/>
              <a:gd name="connsiteY2" fmla="*/ 1485900 h 1485900"/>
              <a:gd name="connsiteX3" fmla="*/ 0 w 3714750"/>
              <a:gd name="connsiteY3" fmla="*/ 1485900 h 1485900"/>
              <a:gd name="connsiteX4" fmla="*/ 0 w 3714750"/>
              <a:gd name="connsiteY4" fmla="*/ 0 h 1485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0" h="1485900">
                <a:moveTo>
                  <a:pt x="0" y="0"/>
                </a:moveTo>
                <a:lnTo>
                  <a:pt x="3714750" y="0"/>
                </a:lnTo>
                <a:lnTo>
                  <a:pt x="3714750" y="1485900"/>
                </a:lnTo>
                <a:lnTo>
                  <a:pt x="0" y="1485900"/>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0688" tIns="97536" rIns="170688" bIns="97536" numCol="1" spcCol="1270" anchor="ctr" anchorCtr="0">
            <a:noAutofit/>
          </a:bodyPr>
          <a:lstStyle/>
          <a:p>
            <a:pPr defTabSz="1066773">
              <a:lnSpc>
                <a:spcPct val="90000"/>
              </a:lnSpc>
              <a:spcBef>
                <a:spcPct val="0"/>
              </a:spcBef>
              <a:spcAft>
                <a:spcPct val="35000"/>
              </a:spcAft>
            </a:pPr>
            <a:r>
              <a:rPr lang="en-US" sz="3600" b="1">
                <a:latin typeface="Arial" panose="020B0604020202020204" pitchFamily="34" charset="0"/>
                <a:cs typeface="Arial" panose="020B0604020202020204" pitchFamily="34" charset="0"/>
              </a:rPr>
              <a:t>Month-1 retention ≈ 22% (low retention baseline)</a:t>
            </a:r>
            <a:endParaRPr lang="vi-VN" sz="3600" b="1">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A2483373-4C4A-7E4C-088F-1E2B5017F797}"/>
              </a:ext>
            </a:extLst>
          </p:cNvPr>
          <p:cNvSpPr txBox="1"/>
          <p:nvPr/>
        </p:nvSpPr>
        <p:spPr>
          <a:xfrm>
            <a:off x="7396398" y="3083423"/>
            <a:ext cx="4795602" cy="2031325"/>
          </a:xfrm>
          <a:prstGeom prst="rect">
            <a:avLst/>
          </a:prstGeom>
          <a:noFill/>
        </p:spPr>
        <p:txBody>
          <a:bodyPr wrap="square">
            <a:spAutoFit/>
          </a:bodyPr>
          <a:lstStyle/>
          <a:p>
            <a:pPr algn="just"/>
            <a:r>
              <a:rPr lang="en-US"/>
              <a:t>This cohort analysis provides the baseline for customer retention </a:t>
            </a:r>
            <a:r>
              <a:rPr lang="en-US" b="1"/>
              <a:t>(OSGM Appendix)</a:t>
            </a:r>
            <a:r>
              <a:rPr lang="en-US"/>
              <a:t>, a critical metric for the SME retention and loyalty strategy. We can see that, on average, only about 22% of new customers return to make a purchase in the second month.</a:t>
            </a:r>
            <a:endParaRPr lang="vi-VN">
              <a:latin typeface="Arial" panose="020B0604020202020204" pitchFamily="34" charset="0"/>
              <a:cs typeface="Arial" panose="020B0604020202020204" pitchFamily="34" charset="0"/>
            </a:endParaRPr>
          </a:p>
        </p:txBody>
      </p:sp>
      <p:pic>
        <p:nvPicPr>
          <p:cNvPr id="3" name="Picture 2" descr="A chart with numbers and a grid&#10;&#10;AI-generated content may be incorrect.">
            <a:extLst>
              <a:ext uri="{FF2B5EF4-FFF2-40B4-BE49-F238E27FC236}">
                <a16:creationId xmlns:a16="http://schemas.microsoft.com/office/drawing/2014/main" id="{33E50404-4D21-8575-9284-C0B63A5954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63172"/>
            <a:ext cx="7396397" cy="5794828"/>
          </a:xfrm>
          <a:prstGeom prst="rect">
            <a:avLst/>
          </a:prstGeom>
        </p:spPr>
      </p:pic>
    </p:spTree>
    <p:extLst>
      <p:ext uri="{BB962C8B-B14F-4D97-AF65-F5344CB8AC3E}">
        <p14:creationId xmlns:p14="http://schemas.microsoft.com/office/powerpoint/2010/main" val="1675548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7F94D-EB6D-B162-5A0F-06CCC8406425}"/>
            </a:ext>
          </a:extLst>
        </p:cNvPr>
        <p:cNvGrpSpPr/>
        <p:nvPr/>
      </p:nvGrpSpPr>
      <p:grpSpPr>
        <a:xfrm>
          <a:off x="0" y="0"/>
          <a:ext cx="0" cy="0"/>
          <a:chOff x="0" y="0"/>
          <a:chExt cx="0" cy="0"/>
        </a:xfrm>
      </p:grpSpPr>
      <p:sp>
        <p:nvSpPr>
          <p:cNvPr id="4" name="Freeform: Shape 3">
            <a:extLst>
              <a:ext uri="{FF2B5EF4-FFF2-40B4-BE49-F238E27FC236}">
                <a16:creationId xmlns:a16="http://schemas.microsoft.com/office/drawing/2014/main" id="{6DEBC6D8-D844-EE16-F55C-D18F28297EB1}"/>
              </a:ext>
            </a:extLst>
          </p:cNvPr>
          <p:cNvSpPr/>
          <p:nvPr/>
        </p:nvSpPr>
        <p:spPr>
          <a:xfrm>
            <a:off x="0" y="0"/>
            <a:ext cx="12192000" cy="1063172"/>
          </a:xfrm>
          <a:custGeom>
            <a:avLst/>
            <a:gdLst>
              <a:gd name="connsiteX0" fmla="*/ 0 w 3714750"/>
              <a:gd name="connsiteY0" fmla="*/ 0 h 1485900"/>
              <a:gd name="connsiteX1" fmla="*/ 3714750 w 3714750"/>
              <a:gd name="connsiteY1" fmla="*/ 0 h 1485900"/>
              <a:gd name="connsiteX2" fmla="*/ 3714750 w 3714750"/>
              <a:gd name="connsiteY2" fmla="*/ 1485900 h 1485900"/>
              <a:gd name="connsiteX3" fmla="*/ 0 w 3714750"/>
              <a:gd name="connsiteY3" fmla="*/ 1485900 h 1485900"/>
              <a:gd name="connsiteX4" fmla="*/ 0 w 3714750"/>
              <a:gd name="connsiteY4" fmla="*/ 0 h 1485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0" h="1485900">
                <a:moveTo>
                  <a:pt x="0" y="0"/>
                </a:moveTo>
                <a:lnTo>
                  <a:pt x="3714750" y="0"/>
                </a:lnTo>
                <a:lnTo>
                  <a:pt x="3714750" y="1485900"/>
                </a:lnTo>
                <a:lnTo>
                  <a:pt x="0" y="1485900"/>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0688" tIns="97536" rIns="170688" bIns="97536" numCol="1" spcCol="1270" anchor="ctr" anchorCtr="0">
            <a:noAutofit/>
          </a:bodyPr>
          <a:lstStyle/>
          <a:p>
            <a:pPr defTabSz="1066773">
              <a:lnSpc>
                <a:spcPct val="90000"/>
              </a:lnSpc>
              <a:spcBef>
                <a:spcPct val="0"/>
              </a:spcBef>
              <a:spcAft>
                <a:spcPct val="35000"/>
              </a:spcAft>
            </a:pPr>
            <a:r>
              <a:rPr lang="en-US" sz="3600" b="1">
                <a:latin typeface="Arial" panose="020B0604020202020204" pitchFamily="34" charset="0"/>
                <a:cs typeface="Arial" panose="020B0604020202020204" pitchFamily="34" charset="0"/>
              </a:rPr>
              <a:t>Best-selling non-Q4 products (seasonality diversification inputs)</a:t>
            </a:r>
            <a:endParaRPr lang="vi-VN" sz="3600" b="1">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A431CC94-0F4D-8D27-2851-3F0DFC4EC5FC}"/>
              </a:ext>
            </a:extLst>
          </p:cNvPr>
          <p:cNvSpPr txBox="1"/>
          <p:nvPr/>
        </p:nvSpPr>
        <p:spPr>
          <a:xfrm>
            <a:off x="0" y="6191940"/>
            <a:ext cx="12192000" cy="923330"/>
          </a:xfrm>
          <a:prstGeom prst="rect">
            <a:avLst/>
          </a:prstGeom>
          <a:noFill/>
        </p:spPr>
        <p:txBody>
          <a:bodyPr wrap="square">
            <a:spAutoFit/>
          </a:bodyPr>
          <a:lstStyle/>
          <a:p>
            <a:pPr algn="just"/>
            <a:r>
              <a:rPr lang="en-US"/>
              <a:t>In support of the "Diversify Seasonality" strategy </a:t>
            </a:r>
            <a:r>
              <a:rPr lang="en-US" b="1"/>
              <a:t>(OSGM Appendix)</a:t>
            </a:r>
            <a:r>
              <a:rPr lang="en-US"/>
              <a:t>, this chart identifies the best-selling products outside of the Q4 peak. These are potential candidates for expansion and year-round promotional activities.</a:t>
            </a:r>
            <a:endParaRPr lang="vi-VN">
              <a:latin typeface="Arial" panose="020B0604020202020204" pitchFamily="34" charset="0"/>
              <a:cs typeface="Arial" panose="020B0604020202020204" pitchFamily="34" charset="0"/>
            </a:endParaRPr>
          </a:p>
        </p:txBody>
      </p:sp>
      <p:pic>
        <p:nvPicPr>
          <p:cNvPr id="7" name="Picture 6" descr="A graph showing different colored bars&#10;&#10;AI-generated content may be incorrect.">
            <a:extLst>
              <a:ext uri="{FF2B5EF4-FFF2-40B4-BE49-F238E27FC236}">
                <a16:creationId xmlns:a16="http://schemas.microsoft.com/office/drawing/2014/main" id="{610338DA-9122-97B5-FB7F-4E864EF37F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 y="1164842"/>
            <a:ext cx="10058400" cy="4925427"/>
          </a:xfrm>
          <a:prstGeom prst="rect">
            <a:avLst/>
          </a:prstGeom>
        </p:spPr>
      </p:pic>
    </p:spTree>
    <p:extLst>
      <p:ext uri="{BB962C8B-B14F-4D97-AF65-F5344CB8AC3E}">
        <p14:creationId xmlns:p14="http://schemas.microsoft.com/office/powerpoint/2010/main" val="18024557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AE88C-8A5A-531E-83C5-9773A98225AA}"/>
            </a:ext>
          </a:extLst>
        </p:cNvPr>
        <p:cNvGrpSpPr/>
        <p:nvPr/>
      </p:nvGrpSpPr>
      <p:grpSpPr>
        <a:xfrm>
          <a:off x="0" y="0"/>
          <a:ext cx="0" cy="0"/>
          <a:chOff x="0" y="0"/>
          <a:chExt cx="0" cy="0"/>
        </a:xfrm>
      </p:grpSpPr>
      <p:sp>
        <p:nvSpPr>
          <p:cNvPr id="4" name="Freeform: Shape 3">
            <a:extLst>
              <a:ext uri="{FF2B5EF4-FFF2-40B4-BE49-F238E27FC236}">
                <a16:creationId xmlns:a16="http://schemas.microsoft.com/office/drawing/2014/main" id="{7A46D70A-4E7F-E0D0-AB93-FD8A1D2E4554}"/>
              </a:ext>
            </a:extLst>
          </p:cNvPr>
          <p:cNvSpPr/>
          <p:nvPr/>
        </p:nvSpPr>
        <p:spPr>
          <a:xfrm>
            <a:off x="0" y="0"/>
            <a:ext cx="12192000" cy="1063172"/>
          </a:xfrm>
          <a:custGeom>
            <a:avLst/>
            <a:gdLst>
              <a:gd name="connsiteX0" fmla="*/ 0 w 3714750"/>
              <a:gd name="connsiteY0" fmla="*/ 0 h 1485900"/>
              <a:gd name="connsiteX1" fmla="*/ 3714750 w 3714750"/>
              <a:gd name="connsiteY1" fmla="*/ 0 h 1485900"/>
              <a:gd name="connsiteX2" fmla="*/ 3714750 w 3714750"/>
              <a:gd name="connsiteY2" fmla="*/ 1485900 h 1485900"/>
              <a:gd name="connsiteX3" fmla="*/ 0 w 3714750"/>
              <a:gd name="connsiteY3" fmla="*/ 1485900 h 1485900"/>
              <a:gd name="connsiteX4" fmla="*/ 0 w 3714750"/>
              <a:gd name="connsiteY4" fmla="*/ 0 h 1485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0" h="1485900">
                <a:moveTo>
                  <a:pt x="0" y="0"/>
                </a:moveTo>
                <a:lnTo>
                  <a:pt x="3714750" y="0"/>
                </a:lnTo>
                <a:lnTo>
                  <a:pt x="3714750" y="1485900"/>
                </a:lnTo>
                <a:lnTo>
                  <a:pt x="0" y="1485900"/>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0688" tIns="97536" rIns="170688" bIns="97536" numCol="1" spcCol="1270" anchor="ctr" anchorCtr="0">
            <a:noAutofit/>
          </a:bodyPr>
          <a:lstStyle/>
          <a:p>
            <a:pPr defTabSz="1066773">
              <a:lnSpc>
                <a:spcPct val="90000"/>
              </a:lnSpc>
              <a:spcBef>
                <a:spcPct val="0"/>
              </a:spcBef>
              <a:spcAft>
                <a:spcPct val="35000"/>
              </a:spcAft>
            </a:pPr>
            <a:r>
              <a:rPr lang="en-US" sz="3600" b="1">
                <a:latin typeface="Arial" panose="020B0604020202020204" pitchFamily="34" charset="0"/>
                <a:cs typeface="Arial" panose="020B0604020202020204" pitchFamily="34" charset="0"/>
              </a:rPr>
              <a:t>RFM segmentation: Loyal &amp; Champions drive majority of value</a:t>
            </a:r>
            <a:endParaRPr lang="vi-VN" sz="3600" b="1">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4A0B7C6-7A79-7640-FB72-B57AB4D9E792}"/>
              </a:ext>
            </a:extLst>
          </p:cNvPr>
          <p:cNvSpPr txBox="1"/>
          <p:nvPr/>
        </p:nvSpPr>
        <p:spPr>
          <a:xfrm>
            <a:off x="0" y="5934670"/>
            <a:ext cx="12192000" cy="923330"/>
          </a:xfrm>
          <a:prstGeom prst="rect">
            <a:avLst/>
          </a:prstGeom>
          <a:noFill/>
        </p:spPr>
        <p:txBody>
          <a:bodyPr wrap="square">
            <a:spAutoFit/>
          </a:bodyPr>
          <a:lstStyle/>
          <a:p>
            <a:pPr algn="just"/>
            <a:r>
              <a:rPr lang="en-US">
                <a:latin typeface="Arial" panose="020B0604020202020204" pitchFamily="34" charset="0"/>
                <a:cs typeface="Arial" panose="020B0604020202020204" pitchFamily="34" charset="0"/>
              </a:rPr>
              <a:t>To effectively target our loyalty program (</a:t>
            </a:r>
            <a:r>
              <a:rPr lang="en-US" b="1">
                <a:latin typeface="Arial" panose="020B0604020202020204" pitchFamily="34" charset="0"/>
                <a:cs typeface="Arial" panose="020B0604020202020204" pitchFamily="34" charset="0"/>
              </a:rPr>
              <a:t>Strategy 2</a:t>
            </a:r>
            <a:r>
              <a:rPr lang="en-US">
                <a:latin typeface="Arial" panose="020B0604020202020204" pitchFamily="34" charset="0"/>
                <a:cs typeface="Arial" panose="020B0604020202020204" pitchFamily="34" charset="0"/>
              </a:rPr>
              <a:t>), we first segmented customers using the RFM model. This chart shows the distribution of customers across different value tiers, identifying "Loyal Customers" as the largest group by count, followed closely by "Champions" and "Potential Loyalists".</a:t>
            </a:r>
            <a:endParaRPr lang="vi-VN">
              <a:latin typeface="Arial" panose="020B0604020202020204" pitchFamily="34" charset="0"/>
              <a:cs typeface="Arial" panose="020B0604020202020204" pitchFamily="34" charset="0"/>
            </a:endParaRPr>
          </a:p>
        </p:txBody>
      </p:sp>
      <p:pic>
        <p:nvPicPr>
          <p:cNvPr id="3" name="Picture 2" descr="A graph showing a number of customers&#10;&#10;AI-generated content may be incorrect.">
            <a:extLst>
              <a:ext uri="{FF2B5EF4-FFF2-40B4-BE49-F238E27FC236}">
                <a16:creationId xmlns:a16="http://schemas.microsoft.com/office/drawing/2014/main" id="{0E68B86D-8AE7-70FE-F15A-355A04E7E8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3778" y="1110925"/>
            <a:ext cx="8980586" cy="4823745"/>
          </a:xfrm>
          <a:prstGeom prst="rect">
            <a:avLst/>
          </a:prstGeom>
        </p:spPr>
      </p:pic>
    </p:spTree>
    <p:extLst>
      <p:ext uri="{BB962C8B-B14F-4D97-AF65-F5344CB8AC3E}">
        <p14:creationId xmlns:p14="http://schemas.microsoft.com/office/powerpoint/2010/main" val="32109379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E5C72-096A-941A-D7B8-032C11A22F68}"/>
            </a:ext>
          </a:extLst>
        </p:cNvPr>
        <p:cNvGrpSpPr/>
        <p:nvPr/>
      </p:nvGrpSpPr>
      <p:grpSpPr>
        <a:xfrm>
          <a:off x="0" y="0"/>
          <a:ext cx="0" cy="0"/>
          <a:chOff x="0" y="0"/>
          <a:chExt cx="0" cy="0"/>
        </a:xfrm>
      </p:grpSpPr>
      <p:sp>
        <p:nvSpPr>
          <p:cNvPr id="4" name="Freeform: Shape 3">
            <a:extLst>
              <a:ext uri="{FF2B5EF4-FFF2-40B4-BE49-F238E27FC236}">
                <a16:creationId xmlns:a16="http://schemas.microsoft.com/office/drawing/2014/main" id="{40F1CBAF-4CD3-0DBE-7C03-DE73896D03BC}"/>
              </a:ext>
            </a:extLst>
          </p:cNvPr>
          <p:cNvSpPr/>
          <p:nvPr/>
        </p:nvSpPr>
        <p:spPr>
          <a:xfrm>
            <a:off x="0" y="0"/>
            <a:ext cx="12192000" cy="1063172"/>
          </a:xfrm>
          <a:custGeom>
            <a:avLst/>
            <a:gdLst>
              <a:gd name="connsiteX0" fmla="*/ 0 w 3714750"/>
              <a:gd name="connsiteY0" fmla="*/ 0 h 1485900"/>
              <a:gd name="connsiteX1" fmla="*/ 3714750 w 3714750"/>
              <a:gd name="connsiteY1" fmla="*/ 0 h 1485900"/>
              <a:gd name="connsiteX2" fmla="*/ 3714750 w 3714750"/>
              <a:gd name="connsiteY2" fmla="*/ 1485900 h 1485900"/>
              <a:gd name="connsiteX3" fmla="*/ 0 w 3714750"/>
              <a:gd name="connsiteY3" fmla="*/ 1485900 h 1485900"/>
              <a:gd name="connsiteX4" fmla="*/ 0 w 3714750"/>
              <a:gd name="connsiteY4" fmla="*/ 0 h 1485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0" h="1485900">
                <a:moveTo>
                  <a:pt x="0" y="0"/>
                </a:moveTo>
                <a:lnTo>
                  <a:pt x="3714750" y="0"/>
                </a:lnTo>
                <a:lnTo>
                  <a:pt x="3714750" y="1485900"/>
                </a:lnTo>
                <a:lnTo>
                  <a:pt x="0" y="1485900"/>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0688" tIns="97536" rIns="170688" bIns="97536" numCol="1" spcCol="1270" anchor="ctr" anchorCtr="0">
            <a:noAutofit/>
          </a:bodyPr>
          <a:lstStyle/>
          <a:p>
            <a:pPr defTabSz="1066773">
              <a:lnSpc>
                <a:spcPct val="90000"/>
              </a:lnSpc>
              <a:spcBef>
                <a:spcPct val="0"/>
              </a:spcBef>
              <a:spcAft>
                <a:spcPct val="35000"/>
              </a:spcAft>
            </a:pPr>
            <a:r>
              <a:rPr lang="en-US" sz="3600" b="1">
                <a:latin typeface="Arial" panose="020B0604020202020204" pitchFamily="34" charset="0"/>
                <a:cs typeface="Arial" panose="020B0604020202020204" pitchFamily="34" charset="0"/>
              </a:rPr>
              <a:t>RFM segmentation: Loyal Customers = largest segment by count</a:t>
            </a:r>
            <a:endParaRPr lang="vi-VN" sz="3600" b="1">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2C732C0-D8E3-A7C8-9B68-E35B84FF36B6}"/>
              </a:ext>
            </a:extLst>
          </p:cNvPr>
          <p:cNvSpPr txBox="1"/>
          <p:nvPr/>
        </p:nvSpPr>
        <p:spPr>
          <a:xfrm>
            <a:off x="0" y="5933210"/>
            <a:ext cx="12192000" cy="923330"/>
          </a:xfrm>
          <a:prstGeom prst="rect">
            <a:avLst/>
          </a:prstGeom>
          <a:noFill/>
        </p:spPr>
        <p:txBody>
          <a:bodyPr wrap="square">
            <a:spAutoFit/>
          </a:bodyPr>
          <a:lstStyle/>
          <a:p>
            <a:pPr algn="just"/>
            <a:r>
              <a:rPr lang="en-US">
                <a:latin typeface="Arial" panose="020B0604020202020204" pitchFamily="34" charset="0"/>
                <a:cs typeface="Arial" panose="020B0604020202020204" pitchFamily="34" charset="0"/>
              </a:rPr>
              <a:t>While "Loyal Customers" are numerous, this chart reveals where the most value lies. The "Champions" segment, despite being smaller in size, contributes disproportionately to the total revenue. This reinforces the critical importance of retaining this high-value group to achieve our CLV growth targets.</a:t>
            </a:r>
            <a:endParaRPr lang="vi-VN">
              <a:latin typeface="Arial" panose="020B0604020202020204" pitchFamily="34" charset="0"/>
              <a:cs typeface="Arial" panose="020B0604020202020204" pitchFamily="34" charset="0"/>
            </a:endParaRPr>
          </a:p>
        </p:txBody>
      </p:sp>
      <p:pic>
        <p:nvPicPr>
          <p:cNvPr id="5" name="Picture 4" descr="A graph with purple squares&#10;&#10;AI-generated content may be incorrect.">
            <a:extLst>
              <a:ext uri="{FF2B5EF4-FFF2-40B4-BE49-F238E27FC236}">
                <a16:creationId xmlns:a16="http://schemas.microsoft.com/office/drawing/2014/main" id="{65CEEFAE-86F7-91DB-FBF8-E7382D0992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2968" y="1064114"/>
            <a:ext cx="8986064" cy="4869096"/>
          </a:xfrm>
          <a:prstGeom prst="rect">
            <a:avLst/>
          </a:prstGeom>
        </p:spPr>
      </p:pic>
    </p:spTree>
    <p:extLst>
      <p:ext uri="{BB962C8B-B14F-4D97-AF65-F5344CB8AC3E}">
        <p14:creationId xmlns:p14="http://schemas.microsoft.com/office/powerpoint/2010/main" val="3504231687"/>
      </p:ext>
    </p:extLst>
  </p:cSld>
  <p:clrMapOvr>
    <a:masterClrMapping/>
  </p:clrMapOvr>
</p:sld>
</file>

<file path=ppt/theme/theme1.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lena" id="{83D43F4A-02D5-42AD-9542-27487597C212}" vid="{14154C61-C2E2-42F2-9833-4EC39495D4C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484</TotalTime>
  <Words>1119</Words>
  <Application>Microsoft Office PowerPoint</Application>
  <PresentationFormat>Widescreen</PresentationFormat>
  <Paragraphs>110</Paragraphs>
  <Slides>12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Neue Haas Grotesk Text Pro</vt:lpstr>
      <vt:lpstr>Wingdings</vt:lpstr>
      <vt:lpstr>Helena</vt:lpstr>
      <vt:lpstr>Market &amp; Customer Insights (2010–2011)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Kai Jackson</dc:creator>
  <cp:lastModifiedBy>Kai Jackson</cp:lastModifiedBy>
  <cp:revision>1</cp:revision>
  <dcterms:created xsi:type="dcterms:W3CDTF">2025-08-27T02:29:50Z</dcterms:created>
  <dcterms:modified xsi:type="dcterms:W3CDTF">2025-11-18T07:10:18Z</dcterms:modified>
</cp:coreProperties>
</file>